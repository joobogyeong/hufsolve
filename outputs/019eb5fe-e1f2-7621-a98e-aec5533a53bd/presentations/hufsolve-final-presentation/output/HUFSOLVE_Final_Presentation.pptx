
<file path=[Content_Types].xml><?xml version="1.0" encoding="utf-8"?>
<Types xmlns="http://schemas.openxmlformats.org/package/2006/content-types">
  <Default Extension="xml" ContentType="application/vnd.openxmlformats-package.core-properties+xml"/>
  <Default Extension="gif" ContentType="image/gif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4e7c8180bc4dc1" /><Relationship Type="http://schemas.openxmlformats.org/officeDocument/2006/relationships/extended-properties" Target="/docProps/app.xml" Id="R28cc4e4796314f07" /><Relationship Type="http://schemas.openxmlformats.org/officeDocument/2006/relationships/officeDocument" Target="/ppt/presentation.xml" Id="R1d605f61671c47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d3ac20074494a90"/>
  </p:sldMasterIdLst>
  <p:notesMasterIdLst>
    <p:notesMasterId xmlns:r="http://schemas.openxmlformats.org/officeDocument/2006/relationships" r:id="Ra5863794e19a43ed"/>
  </p:notesMasterIdLst>
  <p:sldIdLst>
    <p:sldId xmlns:r="http://schemas.openxmlformats.org/officeDocument/2006/relationships" id="256" r:id="R73793d36a75b49e4"/>
    <p:sldId xmlns:r="http://schemas.openxmlformats.org/officeDocument/2006/relationships" id="257" r:id="Rd94d4bff1c834538"/>
    <p:sldId xmlns:r="http://schemas.openxmlformats.org/officeDocument/2006/relationships" id="258" r:id="R03f55d8cf29d48ab"/>
    <p:sldId xmlns:r="http://schemas.openxmlformats.org/officeDocument/2006/relationships" id="259" r:id="Rf4af601ac96a45bc"/>
    <p:sldId xmlns:r="http://schemas.openxmlformats.org/officeDocument/2006/relationships" id="260" r:id="Ra8941ba9500746f3"/>
    <p:sldId xmlns:r="http://schemas.openxmlformats.org/officeDocument/2006/relationships" id="261" r:id="R775f19189c4c449f"/>
    <p:sldId xmlns:r="http://schemas.openxmlformats.org/officeDocument/2006/relationships" id="262" r:id="R1214de70c9a84926"/>
    <p:sldId xmlns:r="http://schemas.openxmlformats.org/officeDocument/2006/relationships" id="263" r:id="Rec45b243bfaa49f2"/>
    <p:sldId xmlns:r="http://schemas.openxmlformats.org/officeDocument/2006/relationships" id="264" r:id="Ra3378bab90054dd7"/>
    <p:sldId xmlns:r="http://schemas.openxmlformats.org/officeDocument/2006/relationships" id="265" r:id="Rf0d4c388c3204c8a"/>
    <p:sldId xmlns:r="http://schemas.openxmlformats.org/officeDocument/2006/relationships" id="266" r:id="Rc491c33ad113432e"/>
    <p:sldId xmlns:r="http://schemas.openxmlformats.org/officeDocument/2006/relationships" id="267" r:id="R9dde17215b0d4a5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63ce6c5265443f" /><Relationship Type="http://schemas.openxmlformats.org/officeDocument/2006/relationships/slideMaster" Target="/ppt/slideMasters/slideMaster1.xml" Id="R5d3ac20074494a90" /><Relationship Type="http://schemas.openxmlformats.org/officeDocument/2006/relationships/notesMaster" Target="/ppt/notesMasters/notesMaster1.xml" Id="Ra5863794e19a43ed" /><Relationship Type="http://schemas.openxmlformats.org/officeDocument/2006/relationships/presProps" Target="/ppt/presProps.xml" Id="Raf19a26d883f4aa7" /><Relationship Type="http://schemas.openxmlformats.org/officeDocument/2006/relationships/viewProps" Target="/ppt/viewProps.xml" Id="R93c71841409745db" /><Relationship Type="http://schemas.openxmlformats.org/officeDocument/2006/relationships/tableStyles" Target="/ppt/tableStyles.xml" Id="R27b35e1b06eb4c7e" /><Relationship Type="http://schemas.openxmlformats.org/officeDocument/2006/relationships/slide" Target="/ppt/slides/slide1.xml" Id="R73793d36a75b49e4" /><Relationship Type="http://schemas.openxmlformats.org/officeDocument/2006/relationships/slide" Target="/ppt/slides/slide2.xml" Id="Rd94d4bff1c834538" /><Relationship Type="http://schemas.openxmlformats.org/officeDocument/2006/relationships/slide" Target="/ppt/slides/slide3.xml" Id="R03f55d8cf29d48ab" /><Relationship Type="http://schemas.openxmlformats.org/officeDocument/2006/relationships/slide" Target="/ppt/slides/slide4.xml" Id="Rf4af601ac96a45bc" /><Relationship Type="http://schemas.openxmlformats.org/officeDocument/2006/relationships/slide" Target="/ppt/slides/slide5.xml" Id="Ra8941ba9500746f3" /><Relationship Type="http://schemas.openxmlformats.org/officeDocument/2006/relationships/slide" Target="/ppt/slides/slide6.xml" Id="R775f19189c4c449f" /><Relationship Type="http://schemas.openxmlformats.org/officeDocument/2006/relationships/slide" Target="/ppt/slides/slide7.xml" Id="R1214de70c9a84926" /><Relationship Type="http://schemas.openxmlformats.org/officeDocument/2006/relationships/slide" Target="/ppt/slides/slide8.xml" Id="Rec45b243bfaa49f2" /><Relationship Type="http://schemas.openxmlformats.org/officeDocument/2006/relationships/slide" Target="/ppt/slides/slide9.xml" Id="Ra3378bab90054dd7" /><Relationship Type="http://schemas.openxmlformats.org/officeDocument/2006/relationships/slide" Target="/ppt/slides/slide10.xml" Id="Rf0d4c388c3204c8a" /><Relationship Type="http://schemas.openxmlformats.org/officeDocument/2006/relationships/slide" Target="/ppt/slides/slide11.xml" Id="Rc491c33ad113432e" /><Relationship Type="http://schemas.openxmlformats.org/officeDocument/2006/relationships/slide" Target="/ppt/slides/slide12.xml" Id="R9dde17215b0d4a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abc4c186674f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anumSquar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anumSquar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fd24f178b44cf4" /><Relationship Type="http://schemas.openxmlformats.org/officeDocument/2006/relationships/notesMaster" Target="/ppt/notesMasters/notesMaster1.xml" Id="R4ef4394c3271489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b4851cba13484e" /><Relationship Type="http://schemas.openxmlformats.org/officeDocument/2006/relationships/notesMaster" Target="/ppt/notesMasters/notesMaster1.xml" Id="Rda1e8118a1d14a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94a752486547b3" /><Relationship Type="http://schemas.openxmlformats.org/officeDocument/2006/relationships/notesMaster" Target="/ppt/notesMasters/notesMaster1.xml" Id="Rd38f6c9c60c048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3e2cae25d074fa7" /><Relationship Type="http://schemas.openxmlformats.org/officeDocument/2006/relationships/notesMaster" Target="/ppt/notesMasters/notesMaster1.xml" Id="Refb26846cc614d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6fc2b17671d48d4" /><Relationship Type="http://schemas.openxmlformats.org/officeDocument/2006/relationships/notesMaster" Target="/ppt/notesMasters/notesMaster1.xml" Id="Rab55894cd54d439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440a3ee359a4c3e" /><Relationship Type="http://schemas.openxmlformats.org/officeDocument/2006/relationships/notesMaster" Target="/ppt/notesMasters/notesMaster1.xml" Id="R2831cd6bb00c4b7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f22a092c2784f09" /><Relationship Type="http://schemas.openxmlformats.org/officeDocument/2006/relationships/notesMaster" Target="/ppt/notesMasters/notesMaster1.xml" Id="Rde6f7e93650b443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81c4ab708ab4f75" /><Relationship Type="http://schemas.openxmlformats.org/officeDocument/2006/relationships/notesMaster" Target="/ppt/notesMasters/notesMaster1.xml" Id="R9e03d1cd619240d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60b0fe8893f4fe6" /><Relationship Type="http://schemas.openxmlformats.org/officeDocument/2006/relationships/notesMaster" Target="/ppt/notesMasters/notesMaster1.xml" Id="R37416a96f2ac410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bb1bd13cd8d4561" /><Relationship Type="http://schemas.openxmlformats.org/officeDocument/2006/relationships/notesMaster" Target="/ppt/notesMasters/notesMaster1.xml" Id="Rd73186f386c34e9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ee49c29721e4bc3" /><Relationship Type="http://schemas.openxmlformats.org/officeDocument/2006/relationships/notesMaster" Target="/ppt/notesMasters/notesMaster1.xml" Id="R82c26302144449e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5d6cfb8d58e45e4" /><Relationship Type="http://schemas.openxmlformats.org/officeDocument/2006/relationships/notesMaster" Target="/ppt/notesMasters/notesMaster1.xml" Id="Rc4bc998a82424a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8fdb7943fe40d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4ed1976fb54fca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MASTER"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ca7651bd894fdb" /><Relationship Type="http://schemas.openxmlformats.org/officeDocument/2006/relationships/slideLayout" Target="/ppt/slideLayouts/slideLayout1.xml" Id="R92d4d5c61f5842f1" /><Relationship Type="http://schemas.openxmlformats.org/officeDocument/2006/relationships/slideLayout" Target="/ppt/slideLayouts/slideLayout2.xml" Id="R8671037877a84b9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d4d5c61f5842f1"/>
    <p:sldLayoutId xmlns:r="http://schemas.openxmlformats.org/officeDocument/2006/relationships" id="2147483650" r:id="R8671037877a84b92"/>
  </p:sldLayoutIdLst>
  <p:hf sldNum="0" hdr="0" ftr="0" dt="0"/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anumSquar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anumSquar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0f67081e78433c" /><Relationship Type="http://schemas.openxmlformats.org/officeDocument/2006/relationships/image" Target="/ppt/media/image.gif" Id="R06b77e1e56d74395" /><Relationship Type="http://schemas.openxmlformats.org/officeDocument/2006/relationships/notesSlide" Target="/ppt/notesSlides/notesSlide1.xml" Id="R3213ad869d25497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bb7ec0d2174090" /><Relationship Type="http://schemas.openxmlformats.org/officeDocument/2006/relationships/image" Target="/ppt/media/image.gif" Id="R79a61c33f9a440e3" /><Relationship Type="http://schemas.openxmlformats.org/officeDocument/2006/relationships/notesSlide" Target="/ppt/notesSlides/notesSlide2.xml" Id="Rb1d82880218b453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747659509f461a" /><Relationship Type="http://schemas.openxmlformats.org/officeDocument/2006/relationships/image" Target="/ppt/media/image.gif" Id="Rcbff2b83d4dd4e25" /><Relationship Type="http://schemas.openxmlformats.org/officeDocument/2006/relationships/notesSlide" Target="/ppt/notesSlides/notesSlide3.xml" Id="R7395da106ba7430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5a40e614384b4e" /><Relationship Type="http://schemas.openxmlformats.org/officeDocument/2006/relationships/image" Target="/ppt/media/image.gif" Id="R3f4f1c4440064bed" /><Relationship Type="http://schemas.openxmlformats.org/officeDocument/2006/relationships/notesSlide" Target="/ppt/notesSlides/notesSlide4.xml" Id="R9031c6e566b8482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90c5fccf274859" /><Relationship Type="http://schemas.openxmlformats.org/officeDocument/2006/relationships/image" Target="/ppt/media/image.gif" Id="R4d9ced6c23ab4c17" /><Relationship Type="http://schemas.openxmlformats.org/officeDocument/2006/relationships/notesSlide" Target="/ppt/notesSlides/notesSlide5.xml" Id="Rf8409e7c11754ab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17a72052e74958" /><Relationship Type="http://schemas.openxmlformats.org/officeDocument/2006/relationships/image" Target="/ppt/media/image.gif" Id="R66af2cd6578d4e21" /><Relationship Type="http://schemas.openxmlformats.org/officeDocument/2006/relationships/notesSlide" Target="/ppt/notesSlides/notesSlide6.xml" Id="R3b461200d5944ca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0308131c6d46ec" /><Relationship Type="http://schemas.openxmlformats.org/officeDocument/2006/relationships/image" Target="/ppt/media/image.gif" Id="R03c7d4ac0a0341b2" /><Relationship Type="http://schemas.openxmlformats.org/officeDocument/2006/relationships/notesSlide" Target="/ppt/notesSlides/notesSlide7.xml" Id="R2e105862ee33434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718f31bd3514b4c" /><Relationship Type="http://schemas.openxmlformats.org/officeDocument/2006/relationships/image" Target="/ppt/media/image.gif" Id="Re9a0465f17d74008" /><Relationship Type="http://schemas.openxmlformats.org/officeDocument/2006/relationships/notesSlide" Target="/ppt/notesSlides/notesSlide8.xml" Id="R5551b58e06304d7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f8136594f74337" /><Relationship Type="http://schemas.openxmlformats.org/officeDocument/2006/relationships/image" Target="/ppt/media/image.gif" Id="R37941f88a0ed48cc" /><Relationship Type="http://schemas.openxmlformats.org/officeDocument/2006/relationships/notesSlide" Target="/ppt/notesSlides/notesSlide9.xml" Id="R50af49ede04c4a7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47c610e24a42bb" /><Relationship Type="http://schemas.openxmlformats.org/officeDocument/2006/relationships/image" Target="/ppt/media/image.gif" Id="Rd5d2f6088a0c4feb" /><Relationship Type="http://schemas.openxmlformats.org/officeDocument/2006/relationships/notesSlide" Target="/ppt/notesSlides/notesSlide10.xml" Id="R663d2e240095429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dc1d3421db487d" /><Relationship Type="http://schemas.openxmlformats.org/officeDocument/2006/relationships/image" Target="/ppt/media/image.gif" Id="R0ec9a04218034c78" /><Relationship Type="http://schemas.openxmlformats.org/officeDocument/2006/relationships/notesSlide" Target="/ppt/notesSlides/notesSlide11.xml" Id="R665518c866f14bc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4192a745cb4717" /><Relationship Type="http://schemas.openxmlformats.org/officeDocument/2006/relationships/image" Target="/ppt/media/image.gif" Id="R5491f8678a6345b0" /><Relationship Type="http://schemas.openxmlformats.org/officeDocument/2006/relationships/notesSlide" Target="/ppt/notesSlides/notesSlide12.xml" Id="R3e1c5c8df20b46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그림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b77e1e56d74395">
            <a:alphaModFix amt="9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51522" y="-611505"/>
            <a:ext cx="4483989" cy="4483989"/>
          </a:xfrm>
          <a:prstGeom xmlns:a="http://schemas.openxmlformats.org/drawingml/2006/main" prst="rect">
            <a:avLst/>
          </a:prstGeom>
        </p:spPr>
      </p:pic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356CCA1-5DB6-477B-9BFE-802EF02E9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77" y="1945287"/>
            <a:ext cx="2011680" cy="310896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12700">
            <a:solidFill>
              <a:schemeClr val="tx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2A4C023-D6D8-4C9B-9126-92C620AA3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1" y="2043684"/>
            <a:ext cx="2011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latin typeface="Pretendard SemiBold"/>
                <a:ea typeface="Pretendard SemiBold"/>
                <a:cs typeface="Pretendard SemiBold"/>
              </a:rPr>
              <a:t>Cloud Computing Project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6C10AE9-45C4-4237-AC64-8E628BE8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1" y="2743200"/>
            <a:ext cx="59436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600" b="1">
                <a:latin typeface="Pretendard Black"/>
                <a:ea typeface="Pretendard Black"/>
                <a:cs typeface="Pretendard Black"/>
              </a:rPr>
              <a:t>HUFSOLVE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23A809E-BD39-4045-9F06-59A51A6AA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1" y="3712464"/>
            <a:ext cx="5943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chemeClr val="tx1">
                    <a:lumMod val="50000"/>
                    <a:lumOff val="50000"/>
                  </a:schemeClr>
                </a:solidFill>
                <a:latin typeface="Pretendard SemiBold"/>
                <a:ea typeface="Pretendard SemiBold"/>
                <a:cs typeface="Pretendard SemiBold"/>
              </a:rPr>
              <a:t>Final Presentation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FE0A2AC-8EA9-4F0D-A19E-75C846061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9" y="4096512"/>
            <a:ext cx="6126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chemeClr val="tx1">
                    <a:lumMod val="50000"/>
                    <a:lumOff val="50000"/>
                  </a:schemeClr>
                </a:solidFill>
                <a:latin typeface="Pretendard SemiBold"/>
                <a:ea typeface="Pretendard SemiBold"/>
                <a:cs typeface="Pretendard SemiBold"/>
              </a:rPr>
              <a:t>서버리스 비용 제어와 병렬 채점으로 완성한 클라우드 온라인 저지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A89FBBB-06AE-4121-8A48-92662ECA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8896" y="5854148"/>
            <a:ext cx="6481474" cy="3729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1400">
                <a:solidFill>
                  <a:schemeClr val="tx1">
                    <a:lumMod val="50000"/>
                    <a:lumOff val="50000"/>
                  </a:schemeClr>
                </a:solidFill>
                <a:latin typeface="Pretendard"/>
                <a:ea typeface="Pretendard"/>
                <a:cs typeface="Pretendard"/>
              </a:rPr>
              <a:t>202002135 오정빈  ·  202300790 장재훈  ·  202103354 주보경  ·  202103686 허준재</a:t>
            </a:r>
          </a:p>
        </p:txBody>
      </p:sp>
    </p:spTree>
    <p:extLst>
      <p:ext uri="{BB962C8B-B14F-4D97-AF65-F5344CB8AC3E}">
        <p14:creationId xmlns:p14="http://schemas.microsoft.com/office/powerpoint/2010/main" val="16973440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그림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a61c33f9a440e3">
            <a:alphaModFix amt="9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51522" y="-611505"/>
            <a:ext cx="4483989" cy="4483989"/>
          </a:xfrm>
          <a:prstGeom xmlns:a="http://schemas.openxmlformats.org/drawingml/2006/main" prst="rect">
            <a:avLst/>
          </a:prstGeom>
        </p:spPr>
      </p:pic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1E42BFD-59B1-3622-FB0D-E6D6A386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8638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latin typeface="Pretendard Black"/>
                <a:ea typeface="Pretendard Black"/>
                <a:cs typeface="Pretendard Black"/>
              </a:rPr>
              <a:t>목차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F907327-39AA-F718-4349-A3A024BEA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28232"/>
            <a:ext cx="411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 b="1">
                <a:solidFill>
                  <a:schemeClr val="tx1">
                    <a:lumMod val="50000"/>
                    <a:lumOff val="50000"/>
                  </a:schemeClr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4DE5109A-3DAE-33C8-B192-68C020CA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609344"/>
            <a:ext cx="2381514" cy="301752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1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D1D5DB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E5AA534-9295-7B40-9055-8990B178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3169" y="2097325"/>
            <a:ext cx="2103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72A"/>
                </a:solidFill>
                <a:latin typeface="Pretendard SemiBold"/>
                <a:ea typeface="Pretendard SemiBold"/>
                <a:cs typeface="Pretendard SemiBold"/>
              </a:rPr>
              <a:t>구현 확장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40F99CA-314D-3195-7FB9-FF5AD888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409" y="2092889"/>
            <a:ext cx="2103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>
                <a:solidFill>
                  <a:srgbClr val="64748B"/>
                </a:solidFill>
                <a:latin typeface="Pretendard SemiBold"/>
                <a:ea typeface="Pretendard SemiBold"/>
                <a:cs typeface="Pretendard SemiBold"/>
              </a:rPr>
              <a:t>01</a:t>
            </a:r>
          </a:p>
        </p:txBody>
      </p:sp>
      <p:sp>
        <p:nvSpPr>
          <p:cNvPr id="29" name="Shape 5">
            <a:extLst xmlns:a="http://schemas.openxmlformats.org/drawingml/2006/main">
              <a:ext uri="{FF2B5EF4-FFF2-40B4-BE49-F238E27FC236}">
                <a16:creationId xmlns:a16="http://schemas.microsoft.com/office/drawing/2014/main" id="{BE22DD41-FAAE-7B08-24E9-BC75555E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58" y="1609344"/>
            <a:ext cx="2381514" cy="301752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1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D1D5DB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5">
            <a:extLst xmlns:a="http://schemas.openxmlformats.org/drawingml/2006/main">
              <a:ext uri="{FF2B5EF4-FFF2-40B4-BE49-F238E27FC236}">
                <a16:creationId xmlns:a16="http://schemas.microsoft.com/office/drawing/2014/main" id="{1C93D076-78E8-AB6B-D490-0002D0C6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9523" y="1609344"/>
            <a:ext cx="2381514" cy="301752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1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D1D5DB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5">
            <a:extLst xmlns:a="http://schemas.openxmlformats.org/drawingml/2006/main">
              <a:ext uri="{FF2B5EF4-FFF2-40B4-BE49-F238E27FC236}">
                <a16:creationId xmlns:a16="http://schemas.microsoft.com/office/drawing/2014/main" id="{B2B55E92-40A8-C3CE-8A3C-A6C67C67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1808" y="1609344"/>
            <a:ext cx="2381514" cy="301752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1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D1D5DB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7">
            <a:extLst xmlns:a="http://schemas.openxmlformats.org/drawingml/2006/main">
              <a:ext uri="{FF2B5EF4-FFF2-40B4-BE49-F238E27FC236}">
                <a16:creationId xmlns:a16="http://schemas.microsoft.com/office/drawing/2014/main" id="{7917FF4B-2822-75D7-4E13-08827DC2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6115" y="2097325"/>
            <a:ext cx="2103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72A"/>
                </a:solidFill>
                <a:latin typeface="Pretendard SemiBold"/>
                <a:ea typeface="Pretendard SemiBold"/>
                <a:cs typeface="Pretendard SemiBold"/>
              </a:rPr>
              <a:t>서버리스 전환</a:t>
            </a:r>
          </a:p>
        </p:txBody>
      </p:sp>
      <p:sp>
        <p:nvSpPr>
          <p:cNvPr id="36" name="Text 8">
            <a:extLst xmlns:a="http://schemas.openxmlformats.org/drawingml/2006/main">
              <a:ext uri="{FF2B5EF4-FFF2-40B4-BE49-F238E27FC236}">
                <a16:creationId xmlns:a16="http://schemas.microsoft.com/office/drawing/2014/main" id="{B0BC4C87-E8D3-F37A-7545-AF059F93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355" y="2092889"/>
            <a:ext cx="2103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>
                <a:latin typeface="Pretendard SemiBold"/>
                <a:ea typeface="Pretendard SemiBold"/>
                <a:cs typeface="Pretendard SemiBold"/>
              </a:rPr>
              <a:t>02</a:t>
            </a:r>
          </a:p>
        </p:txBody>
      </p:sp>
      <p:sp>
        <p:nvSpPr>
          <p:cNvPr id="37" name="Text 7">
            <a:extLst xmlns:a="http://schemas.openxmlformats.org/drawingml/2006/main">
              <a:ext uri="{FF2B5EF4-FFF2-40B4-BE49-F238E27FC236}">
                <a16:creationId xmlns:a16="http://schemas.microsoft.com/office/drawing/2014/main" id="{BCD553A5-4A3E-007C-0C41-FA1A3684D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92889"/>
            <a:ext cx="2103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72A"/>
                </a:solidFill>
                <a:latin typeface="Pretendard SemiBold"/>
                <a:ea typeface="Pretendard SemiBold"/>
                <a:cs typeface="Pretendard SemiBold"/>
              </a:rPr>
              <a:t>성능 개선</a:t>
            </a:r>
          </a:p>
        </p:txBody>
      </p:sp>
      <p:sp>
        <p:nvSpPr>
          <p:cNvPr id="38" name="Text 8">
            <a:extLst xmlns:a="http://schemas.openxmlformats.org/drawingml/2006/main">
              <a:ext uri="{FF2B5EF4-FFF2-40B4-BE49-F238E27FC236}">
                <a16:creationId xmlns:a16="http://schemas.microsoft.com/office/drawing/2014/main" id="{BC251223-5F74-0DBA-BD3B-1733E0592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4440" y="2088453"/>
            <a:ext cx="2103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>
                <a:latin typeface="Pretendard SemiBold"/>
                <a:ea typeface="Pretendard SemiBold"/>
                <a:cs typeface="Pretendard SemiBold"/>
              </a:rPr>
              <a:t>03</a:t>
            </a:r>
          </a:p>
        </p:txBody>
      </p:sp>
      <p:sp>
        <p:nvSpPr>
          <p:cNvPr id="39" name="Text 7">
            <a:extLst xmlns:a="http://schemas.openxmlformats.org/drawingml/2006/main">
              <a:ext uri="{FF2B5EF4-FFF2-40B4-BE49-F238E27FC236}">
                <a16:creationId xmlns:a16="http://schemas.microsoft.com/office/drawing/2014/main" id="{F3402B3C-65C1-60EA-114A-B45BD8B1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7231" y="2101761"/>
            <a:ext cx="2103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72A"/>
                </a:solidFill>
                <a:latin typeface="Pretendard"/>
                <a:ea typeface="Pretendard"/>
                <a:cs typeface="Pretendard"/>
              </a:rPr>
              <a:t>추가 기능</a:t>
            </a:r>
          </a:p>
        </p:txBody>
      </p:sp>
      <p:sp>
        <p:nvSpPr>
          <p:cNvPr id="40" name="Text 8">
            <a:extLst xmlns:a="http://schemas.openxmlformats.org/drawingml/2006/main">
              <a:ext uri="{FF2B5EF4-FFF2-40B4-BE49-F238E27FC236}">
                <a16:creationId xmlns:a16="http://schemas.microsoft.com/office/drawing/2014/main" id="{EA46A4B1-4916-AF03-021A-8D5AE798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471" y="2097325"/>
            <a:ext cx="2103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>
                <a:latin typeface="Pretendard SemiBold"/>
                <a:ea typeface="Pretendard SemiBold"/>
                <a:cs typeface="Pretendard SemiBold"/>
              </a:rPr>
              <a:t>04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95051150-F093-2332-E12B-7D695BDE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1005" y="3118104"/>
            <a:ext cx="2103120" cy="8617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학번 로그인과</a:t>
            </a:r>
          </a:p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Bedrock 기반</a:t>
            </a:r>
          </a:p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AI 학습 리포트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EBC44DB0-D2FE-8E48-07CF-7AE85D23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621" y="3116244"/>
            <a:ext cx="2103120" cy="13234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테스트케이스 병렬 실행과</a:t>
            </a:r>
          </a:p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부하 테스트로</a:t>
            </a:r>
          </a:p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채점 병목 개선</a:t>
            </a: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5F75AF61-CAD5-D098-B81D-55C6F0C6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355" y="3112623"/>
            <a:ext cx="2103120" cy="8617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Lambda wake와</a:t>
            </a:r>
          </a:p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idle cost guard로</a:t>
            </a:r>
          </a:p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EC2 scale-to-zero</a:t>
            </a: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50A7E008-B364-02C6-D94B-9E2F2AACA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409" y="3118104"/>
            <a:ext cx="21031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중간발표 이후</a:t>
            </a:r>
          </a:p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시험·제출·저장 흐름을</a:t>
            </a:r>
          </a:p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실제 서비스로 연결</a:t>
            </a:r>
          </a:p>
        </p:txBody>
      </p:sp>
      <p:sp>
        <p:nvSpPr>
          <p:cNvPr id="48" name="Text 3">
            <a:extLst xmlns:a="http://schemas.openxmlformats.org/drawingml/2006/main">
              <a:ext uri="{FF2B5EF4-FFF2-40B4-BE49-F238E27FC236}">
                <a16:creationId xmlns:a16="http://schemas.microsoft.com/office/drawing/2014/main" id="{CE91A923-A922-0414-EB38-B954C033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92240"/>
            <a:ext cx="43891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chemeClr val="tx1">
                    <a:lumMod val="50000"/>
                    <a:lumOff val="50000"/>
                  </a:schemeClr>
                </a:solidFill>
                <a:latin typeface="Pretendard"/>
                <a:ea typeface="Pretendard"/>
                <a:cs typeface="Pretendard"/>
              </a:rPr>
              <a:t>HUFSOLVE | Cloud Computing Final</a:t>
            </a:r>
          </a:p>
        </p:txBody>
      </p:sp>
      <p:sp>
        <p:nvSpPr>
          <p:cNvPr id="5" name="Shape 0">
            <a:extLst xmlns:a="http://schemas.openxmlformats.org/drawingml/2006/main">
              <a:ext uri="{FF2B5EF4-FFF2-40B4-BE49-F238E27FC236}">
                <a16:creationId xmlns:a16="http://schemas.microsoft.com/office/drawing/2014/main" id="{84FEDC36-6112-F62F-A133-65D2EBA6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95000"/>
              <a:lumOff val="5000"/>
            </a:schemeClr>
          </a:solidFill>
          <a:ln xmlns:a="http://schemas.openxmlformats.org/drawingml/2006/main" w="12700">
            <a:solidFill>
              <a:schemeClr val="tx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24588708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그림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ff2b83d4dd4e25">
            <a:alphaModFix amt="9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51522" y="-611505"/>
            <a:ext cx="4483989" cy="4483989"/>
          </a:xfrm>
          <a:prstGeom xmlns:a="http://schemas.openxmlformats.org/drawingml/2006/main" prst="rect">
            <a:avLst/>
          </a:prstGeom>
        </p:spPr>
      </p:pic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B85840D-4C7D-4CAA-BCF3-0C7E0ADB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3927" y="3661083"/>
            <a:ext cx="78638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r>
              <a:rPr sz="4500" b="1">
                <a:latin typeface="Pretendard ExtraLight"/>
                <a:ea typeface="Pretendard ExtraLight"/>
                <a:cs typeface="Pretendard ExtraLight"/>
              </a:rPr>
              <a:t>구현에서 운영으로</a:t>
            </a:r>
          </a:p>
        </p:txBody>
      </p:sp>
      <p:sp>
        <p:nvSpPr>
          <p:cNvPr id="27" name="Text 3">
            <a:extLst xmlns:a="http://schemas.openxmlformats.org/drawingml/2006/main">
              <a:ext uri="{FF2B5EF4-FFF2-40B4-BE49-F238E27FC236}">
                <a16:creationId xmlns:a16="http://schemas.microsoft.com/office/drawing/2014/main" id="{1924C268-C80E-D489-C386-5C564929E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92240"/>
            <a:ext cx="43891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chemeClr val="tx1">
                    <a:lumMod val="50000"/>
                    <a:lumOff val="50000"/>
                  </a:schemeClr>
                </a:solidFill>
                <a:latin typeface="Pretendard"/>
                <a:ea typeface="Pretendard"/>
                <a:cs typeface="Pretendard"/>
              </a:rPr>
              <a:t>HUFSOLVE | Cloud Computing Final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92E16A3E-BEBF-68AE-32AE-35F65496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201" y="2504372"/>
            <a:ext cx="7863840" cy="923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400">
                <a:latin typeface="Pretendard SemiBold"/>
                <a:ea typeface="Pretendard SemiBold"/>
                <a:cs typeface="Pretendard SemiBold"/>
              </a:rPr>
              <a:t>중간발표 이후</a:t>
            </a:r>
          </a:p>
        </p:txBody>
      </p:sp>
      <p:sp>
        <p:nvSpPr>
          <p:cNvPr id="5" name="Shape 0">
            <a:extLst xmlns:a="http://schemas.openxmlformats.org/drawingml/2006/main">
              <a:ext uri="{FF2B5EF4-FFF2-40B4-BE49-F238E27FC236}">
                <a16:creationId xmlns:a16="http://schemas.microsoft.com/office/drawing/2014/main" id="{5A90A213-35FC-DE75-3E60-D7DD7C8A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95000"/>
              <a:lumOff val="5000"/>
            </a:schemeClr>
          </a:solidFill>
          <a:ln xmlns:a="http://schemas.openxmlformats.org/drawingml/2006/main" w="12700">
            <a:solidFill>
              <a:schemeClr val="tx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1">
            <a:extLst xmlns:a="http://schemas.openxmlformats.org/drawingml/2006/main">
              <a:ext uri="{FF2B5EF4-FFF2-40B4-BE49-F238E27FC236}">
                <a16:creationId xmlns:a16="http://schemas.microsoft.com/office/drawing/2014/main" id="{7AA207CF-F353-E2A1-EA73-F06E22B4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958" y="4787533"/>
            <a:ext cx="78638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tx1">
                    <a:lumMod val="50000"/>
                    <a:lumOff val="50000"/>
                  </a:schemeClr>
                </a:solidFill>
                <a:latin typeface="Pretendard"/>
                <a:ea typeface="Pretendard"/>
                <a:cs typeface="Pretendard"/>
              </a:rPr>
              <a:t>기능 구현 · 서버리스 전환 · 성능 개선 · 사용자 피드백</a:t>
            </a:r>
          </a:p>
        </p:txBody>
      </p:sp>
    </p:spTree>
    <p:extLst>
      <p:ext uri="{BB962C8B-B14F-4D97-AF65-F5344CB8AC3E}">
        <p14:creationId xmlns:p14="http://schemas.microsoft.com/office/powerpoint/2010/main" val="19830839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그림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4f1c4440064bed">
            <a:alphaModFix amt="9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51522" y="-611505"/>
            <a:ext cx="4483989" cy="4483989"/>
          </a:xfrm>
          <a:prstGeom xmlns:a="http://schemas.openxmlformats.org/drawingml/2006/main" prst="rect">
            <a:avLst/>
          </a:prstGeom>
        </p:spPr>
      </p:pic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1E42BFD-59B1-3622-FB0D-E6D6A386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8638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latin typeface="Pretendard Black"/>
                <a:ea typeface="Pretendard Black"/>
                <a:cs typeface="Pretendard Black"/>
              </a:rPr>
              <a:t>Lambda로 유휴 EC2 비용을 제어했다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F907327-39AA-F718-4349-A3A024BEA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28232"/>
            <a:ext cx="411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 b="1">
                <a:solidFill>
                  <a:schemeClr val="tx1">
                    <a:lumMod val="50000"/>
                    <a:lumOff val="50000"/>
                  </a:schemeClr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4DE5109A-3DAE-33C8-B192-68C020CA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609344"/>
            <a:ext cx="2381514" cy="301752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1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D1D5DB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E5AA534-9295-7B40-9055-8990B178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3169" y="2097325"/>
            <a:ext cx="2103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72A"/>
                </a:solidFill>
                <a:latin typeface="Pretendard SemiBold"/>
                <a:ea typeface="Pretendard SemiBold"/>
                <a:cs typeface="Pretendard SemiBold"/>
              </a:rPr>
              <a:t>문제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40F99CA-314D-3195-7FB9-FF5AD888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409" y="2092889"/>
            <a:ext cx="2103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>
                <a:solidFill>
                  <a:srgbClr val="64748B"/>
                </a:solidFill>
                <a:latin typeface="Pretendard SemiBold"/>
                <a:ea typeface="Pretendard SemiBold"/>
                <a:cs typeface="Pretendard SemiBold"/>
              </a:rPr>
              <a:t>01</a:t>
            </a:r>
          </a:p>
        </p:txBody>
      </p:sp>
      <p:sp>
        <p:nvSpPr>
          <p:cNvPr id="29" name="Shape 5">
            <a:extLst xmlns:a="http://schemas.openxmlformats.org/drawingml/2006/main">
              <a:ext uri="{FF2B5EF4-FFF2-40B4-BE49-F238E27FC236}">
                <a16:creationId xmlns:a16="http://schemas.microsoft.com/office/drawing/2014/main" id="{BE22DD41-FAAE-7B08-24E9-BC75555E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58" y="1609344"/>
            <a:ext cx="2381514" cy="301752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1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D1D5DB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5">
            <a:extLst xmlns:a="http://schemas.openxmlformats.org/drawingml/2006/main">
              <a:ext uri="{FF2B5EF4-FFF2-40B4-BE49-F238E27FC236}">
                <a16:creationId xmlns:a16="http://schemas.microsoft.com/office/drawing/2014/main" id="{1C93D076-78E8-AB6B-D490-0002D0C6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9523" y="1609344"/>
            <a:ext cx="2381514" cy="301752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1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D1D5DB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5">
            <a:extLst xmlns:a="http://schemas.openxmlformats.org/drawingml/2006/main">
              <a:ext uri="{FF2B5EF4-FFF2-40B4-BE49-F238E27FC236}">
                <a16:creationId xmlns:a16="http://schemas.microsoft.com/office/drawing/2014/main" id="{B2B55E92-40A8-C3CE-8A3C-A6C67C67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1808" y="1609344"/>
            <a:ext cx="2381514" cy="301752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1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D1D5DB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7">
            <a:extLst xmlns:a="http://schemas.openxmlformats.org/drawingml/2006/main">
              <a:ext uri="{FF2B5EF4-FFF2-40B4-BE49-F238E27FC236}">
                <a16:creationId xmlns:a16="http://schemas.microsoft.com/office/drawing/2014/main" id="{7917FF4B-2822-75D7-4E13-08827DC2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6115" y="2097325"/>
            <a:ext cx="2103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72A"/>
                </a:solidFill>
                <a:latin typeface="Pretendard SemiBold"/>
                <a:ea typeface="Pretendard SemiBold"/>
                <a:cs typeface="Pretendard SemiBold"/>
              </a:rPr>
              <a:t>요청 기반 시작</a:t>
            </a:r>
          </a:p>
        </p:txBody>
      </p:sp>
      <p:sp>
        <p:nvSpPr>
          <p:cNvPr id="36" name="Text 8">
            <a:extLst xmlns:a="http://schemas.openxmlformats.org/drawingml/2006/main">
              <a:ext uri="{FF2B5EF4-FFF2-40B4-BE49-F238E27FC236}">
                <a16:creationId xmlns:a16="http://schemas.microsoft.com/office/drawing/2014/main" id="{B0BC4C87-E8D3-F37A-7545-AF059F93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355" y="2092889"/>
            <a:ext cx="2103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>
                <a:latin typeface="Pretendard SemiBold"/>
                <a:ea typeface="Pretendard SemiBold"/>
                <a:cs typeface="Pretendard SemiBold"/>
              </a:rPr>
              <a:t>02</a:t>
            </a:r>
          </a:p>
        </p:txBody>
      </p:sp>
      <p:sp>
        <p:nvSpPr>
          <p:cNvPr id="37" name="Text 7">
            <a:extLst xmlns:a="http://schemas.openxmlformats.org/drawingml/2006/main">
              <a:ext uri="{FF2B5EF4-FFF2-40B4-BE49-F238E27FC236}">
                <a16:creationId xmlns:a16="http://schemas.microsoft.com/office/drawing/2014/main" id="{BCD553A5-4A3E-007C-0C41-FA1A3684D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92889"/>
            <a:ext cx="2103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72A"/>
                </a:solidFill>
                <a:latin typeface="Pretendard SemiBold"/>
                <a:ea typeface="Pretendard SemiBold"/>
                <a:cs typeface="Pretendard SemiBold"/>
              </a:rPr>
              <a:t>유휴 감지</a:t>
            </a:r>
          </a:p>
        </p:txBody>
      </p:sp>
      <p:sp>
        <p:nvSpPr>
          <p:cNvPr id="38" name="Text 8">
            <a:extLst xmlns:a="http://schemas.openxmlformats.org/drawingml/2006/main">
              <a:ext uri="{FF2B5EF4-FFF2-40B4-BE49-F238E27FC236}">
                <a16:creationId xmlns:a16="http://schemas.microsoft.com/office/drawing/2014/main" id="{BC251223-5F74-0DBA-BD3B-1733E0592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4440" y="2088453"/>
            <a:ext cx="2103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>
                <a:latin typeface="Pretendard SemiBold"/>
                <a:ea typeface="Pretendard SemiBold"/>
                <a:cs typeface="Pretendard SemiBold"/>
              </a:rPr>
              <a:t>03</a:t>
            </a:r>
          </a:p>
        </p:txBody>
      </p:sp>
      <p:sp>
        <p:nvSpPr>
          <p:cNvPr id="39" name="Text 7">
            <a:extLst xmlns:a="http://schemas.openxmlformats.org/drawingml/2006/main">
              <a:ext uri="{FF2B5EF4-FFF2-40B4-BE49-F238E27FC236}">
                <a16:creationId xmlns:a16="http://schemas.microsoft.com/office/drawing/2014/main" id="{F3402B3C-65C1-60EA-114A-B45BD8B1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7231" y="2101761"/>
            <a:ext cx="2103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72A"/>
                </a:solidFill>
                <a:latin typeface="Pretendard"/>
                <a:ea typeface="Pretendard"/>
                <a:cs typeface="Pretendard"/>
              </a:rPr>
              <a:t>결과</a:t>
            </a:r>
          </a:p>
        </p:txBody>
      </p:sp>
      <p:sp>
        <p:nvSpPr>
          <p:cNvPr id="40" name="Text 8">
            <a:extLst xmlns:a="http://schemas.openxmlformats.org/drawingml/2006/main">
              <a:ext uri="{FF2B5EF4-FFF2-40B4-BE49-F238E27FC236}">
                <a16:creationId xmlns:a16="http://schemas.microsoft.com/office/drawing/2014/main" id="{EA46A4B1-4916-AF03-021A-8D5AE798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471" y="2097325"/>
            <a:ext cx="2103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>
                <a:latin typeface="Pretendard SemiBold"/>
                <a:ea typeface="Pretendard SemiBold"/>
                <a:cs typeface="Pretendard SemiBold"/>
              </a:rPr>
              <a:t>04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95051150-F093-2332-E12B-7D695BDE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1005" y="3118104"/>
            <a:ext cx="2103120" cy="975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작업이 없을 때</a:t>
            </a:r>
          </a:p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MinSize·DesiredCapacity를 0으로</a:t>
            </a:r>
          </a:p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scale-to-zero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EBC44DB0-D2FE-8E48-07CF-7AE85D23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621" y="3116244"/>
            <a:ext cx="2103120" cy="13234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CloudWatch와 EventBridge가</a:t>
            </a:r>
          </a:p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ALB 요청·SQS backlog를</a:t>
            </a:r>
          </a:p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주기적으로 확인</a:t>
            </a: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5F75AF61-CAD5-D098-B81D-55C6F0C6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355" y="3112623"/>
            <a:ext cx="2103120" cy="8617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API Gateway의 /wake가</a:t>
            </a:r>
          </a:p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Lambda를 호출해</a:t>
            </a:r>
          </a:p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API·Worker ASG를 시작</a:t>
            </a: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50A7E008-B364-02C6-D94B-9E2F2AACA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409" y="3118104"/>
            <a:ext cx="2103120" cy="975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API·Worker EC2가</a:t>
            </a:r>
          </a:p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상시 실행되면</a:t>
            </a:r>
          </a:p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유휴 시간에도 비용 발생</a:t>
            </a:r>
          </a:p>
        </p:txBody>
      </p:sp>
      <p:sp>
        <p:nvSpPr>
          <p:cNvPr id="48" name="Text 3">
            <a:extLst xmlns:a="http://schemas.openxmlformats.org/drawingml/2006/main">
              <a:ext uri="{FF2B5EF4-FFF2-40B4-BE49-F238E27FC236}">
                <a16:creationId xmlns:a16="http://schemas.microsoft.com/office/drawing/2014/main" id="{CE91A923-A922-0414-EB38-B954C033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92240"/>
            <a:ext cx="43891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chemeClr val="tx1">
                    <a:lumMod val="50000"/>
                    <a:lumOff val="50000"/>
                  </a:schemeClr>
                </a:solidFill>
                <a:latin typeface="Pretendard"/>
                <a:ea typeface="Pretendard"/>
                <a:cs typeface="Pretendard"/>
              </a:rPr>
              <a:t>HUFSOLVE | Cloud Computing Final</a:t>
            </a:r>
          </a:p>
        </p:txBody>
      </p:sp>
      <p:sp>
        <p:nvSpPr>
          <p:cNvPr id="5" name="Shape 0">
            <a:extLst xmlns:a="http://schemas.openxmlformats.org/drawingml/2006/main">
              <a:ext uri="{FF2B5EF4-FFF2-40B4-BE49-F238E27FC236}">
                <a16:creationId xmlns:a16="http://schemas.microsoft.com/office/drawing/2014/main" id="{84FEDC36-6112-F62F-A133-65D2EBA6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95000"/>
              <a:lumOff val="5000"/>
            </a:schemeClr>
          </a:solidFill>
          <a:ln xmlns:a="http://schemas.openxmlformats.org/drawingml/2006/main" w="12700">
            <a:solidFill>
              <a:schemeClr val="tx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24588708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그림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9ced6c23ab4c17">
            <a:alphaModFix amt="9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51522" y="-611505"/>
            <a:ext cx="4483989" cy="4483989"/>
          </a:xfrm>
          <a:prstGeom xmlns:a="http://schemas.openxmlformats.org/drawingml/2006/main" prst="rect">
            <a:avLst/>
          </a:prstGeom>
        </p:spPr>
      </p:pic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1E42BFD-59B1-3622-FB0D-E6D6A386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8638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latin typeface="Pretendard Black"/>
                <a:ea typeface="Pretendard Black"/>
                <a:cs typeface="Pretendard Black"/>
              </a:rPr>
              <a:t>요청·채점·저장을 분리한 최종 아키텍처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F907327-39AA-F718-4349-A3A024BEA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28232"/>
            <a:ext cx="411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 b="1">
                <a:solidFill>
                  <a:schemeClr val="tx1">
                    <a:lumMod val="50000"/>
                    <a:lumOff val="50000"/>
                  </a:schemeClr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4DE5109A-3DAE-33C8-B192-68C020CA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609344"/>
            <a:ext cx="2381514" cy="301752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1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D1D5DB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E5AA534-9295-7B40-9055-8990B178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3169" y="2097325"/>
            <a:ext cx="2103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72A"/>
                </a:solidFill>
                <a:latin typeface="Pretendard SemiBold"/>
                <a:ea typeface="Pretendard SemiBold"/>
                <a:cs typeface="Pretendard SemiBold"/>
              </a:rPr>
              <a:t>사용자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40F99CA-314D-3195-7FB9-FF5AD888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409" y="2092889"/>
            <a:ext cx="2103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>
                <a:solidFill>
                  <a:srgbClr val="64748B"/>
                </a:solidFill>
                <a:latin typeface="Pretendard SemiBold"/>
                <a:ea typeface="Pretendard SemiBold"/>
                <a:cs typeface="Pretendard SemiBold"/>
              </a:rPr>
              <a:t>01</a:t>
            </a:r>
          </a:p>
        </p:txBody>
      </p:sp>
      <p:sp>
        <p:nvSpPr>
          <p:cNvPr id="29" name="Shape 5">
            <a:extLst xmlns:a="http://schemas.openxmlformats.org/drawingml/2006/main">
              <a:ext uri="{FF2B5EF4-FFF2-40B4-BE49-F238E27FC236}">
                <a16:creationId xmlns:a16="http://schemas.microsoft.com/office/drawing/2014/main" id="{BE22DD41-FAAE-7B08-24E9-BC75555E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58" y="1609344"/>
            <a:ext cx="2381514" cy="301752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1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D1D5DB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5">
            <a:extLst xmlns:a="http://schemas.openxmlformats.org/drawingml/2006/main">
              <a:ext uri="{FF2B5EF4-FFF2-40B4-BE49-F238E27FC236}">
                <a16:creationId xmlns:a16="http://schemas.microsoft.com/office/drawing/2014/main" id="{1C93D076-78E8-AB6B-D490-0002D0C6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9523" y="1609344"/>
            <a:ext cx="2381514" cy="301752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1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D1D5DB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5">
            <a:extLst xmlns:a="http://schemas.openxmlformats.org/drawingml/2006/main">
              <a:ext uri="{FF2B5EF4-FFF2-40B4-BE49-F238E27FC236}">
                <a16:creationId xmlns:a16="http://schemas.microsoft.com/office/drawing/2014/main" id="{B2B55E92-40A8-C3CE-8A3C-A6C67C67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1808" y="1609344"/>
            <a:ext cx="2381514" cy="301752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1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D1D5DB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7">
            <a:extLst xmlns:a="http://schemas.openxmlformats.org/drawingml/2006/main">
              <a:ext uri="{FF2B5EF4-FFF2-40B4-BE49-F238E27FC236}">
                <a16:creationId xmlns:a16="http://schemas.microsoft.com/office/drawing/2014/main" id="{7917FF4B-2822-75D7-4E13-08827DC2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6115" y="2097325"/>
            <a:ext cx="2103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72A"/>
                </a:solidFill>
                <a:latin typeface="Pretendard SemiBold"/>
                <a:ea typeface="Pretendard SemiBold"/>
                <a:cs typeface="Pretendard SemiBold"/>
              </a:rPr>
              <a:t>요청 처리</a:t>
            </a:r>
          </a:p>
        </p:txBody>
      </p:sp>
      <p:sp>
        <p:nvSpPr>
          <p:cNvPr id="36" name="Text 8">
            <a:extLst xmlns:a="http://schemas.openxmlformats.org/drawingml/2006/main">
              <a:ext uri="{FF2B5EF4-FFF2-40B4-BE49-F238E27FC236}">
                <a16:creationId xmlns:a16="http://schemas.microsoft.com/office/drawing/2014/main" id="{B0BC4C87-E8D3-F37A-7545-AF059F93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355" y="2092889"/>
            <a:ext cx="2103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>
                <a:latin typeface="Pretendard SemiBold"/>
                <a:ea typeface="Pretendard SemiBold"/>
                <a:cs typeface="Pretendard SemiBold"/>
              </a:rPr>
              <a:t>02</a:t>
            </a:r>
          </a:p>
        </p:txBody>
      </p:sp>
      <p:sp>
        <p:nvSpPr>
          <p:cNvPr id="37" name="Text 7">
            <a:extLst xmlns:a="http://schemas.openxmlformats.org/drawingml/2006/main">
              <a:ext uri="{FF2B5EF4-FFF2-40B4-BE49-F238E27FC236}">
                <a16:creationId xmlns:a16="http://schemas.microsoft.com/office/drawing/2014/main" id="{BCD553A5-4A3E-007C-0C41-FA1A3684D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92889"/>
            <a:ext cx="2103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72A"/>
                </a:solidFill>
                <a:latin typeface="Pretendard SemiBold"/>
                <a:ea typeface="Pretendard SemiBold"/>
                <a:cs typeface="Pretendard SemiBold"/>
              </a:rPr>
              <a:t>비동기 채점</a:t>
            </a:r>
          </a:p>
        </p:txBody>
      </p:sp>
      <p:sp>
        <p:nvSpPr>
          <p:cNvPr id="38" name="Text 8">
            <a:extLst xmlns:a="http://schemas.openxmlformats.org/drawingml/2006/main">
              <a:ext uri="{FF2B5EF4-FFF2-40B4-BE49-F238E27FC236}">
                <a16:creationId xmlns:a16="http://schemas.microsoft.com/office/drawing/2014/main" id="{BC251223-5F74-0DBA-BD3B-1733E0592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4440" y="2088453"/>
            <a:ext cx="2103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>
                <a:latin typeface="Pretendard SemiBold"/>
                <a:ea typeface="Pretendard SemiBold"/>
                <a:cs typeface="Pretendard SemiBold"/>
              </a:rPr>
              <a:t>03</a:t>
            </a:r>
          </a:p>
        </p:txBody>
      </p:sp>
      <p:sp>
        <p:nvSpPr>
          <p:cNvPr id="39" name="Text 7">
            <a:extLst xmlns:a="http://schemas.openxmlformats.org/drawingml/2006/main">
              <a:ext uri="{FF2B5EF4-FFF2-40B4-BE49-F238E27FC236}">
                <a16:creationId xmlns:a16="http://schemas.microsoft.com/office/drawing/2014/main" id="{F3402B3C-65C1-60EA-114A-B45BD8B1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7231" y="2101761"/>
            <a:ext cx="2103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72A"/>
                </a:solidFill>
                <a:latin typeface="Pretendard"/>
                <a:ea typeface="Pretendard"/>
                <a:cs typeface="Pretendard"/>
              </a:rPr>
              <a:t>저장·관측</a:t>
            </a:r>
          </a:p>
        </p:txBody>
      </p:sp>
      <p:sp>
        <p:nvSpPr>
          <p:cNvPr id="40" name="Text 8">
            <a:extLst xmlns:a="http://schemas.openxmlformats.org/drawingml/2006/main">
              <a:ext uri="{FF2B5EF4-FFF2-40B4-BE49-F238E27FC236}">
                <a16:creationId xmlns:a16="http://schemas.microsoft.com/office/drawing/2014/main" id="{EA46A4B1-4916-AF03-021A-8D5AE798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471" y="2097325"/>
            <a:ext cx="2103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>
                <a:latin typeface="Pretendard SemiBold"/>
                <a:ea typeface="Pretendard SemiBold"/>
                <a:cs typeface="Pretendard SemiBold"/>
              </a:rPr>
              <a:t>04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95051150-F093-2332-E12B-7D695BDE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1005" y="3118104"/>
            <a:ext cx="2103120" cy="8617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RDS: 상태·관계·요약</a:t>
            </a:r>
          </a:p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S3: 코드·테스트·결과</a:t>
            </a:r>
          </a:p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CloudWatch: 로그·지표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EBC44DB0-D2FE-8E48-07CF-7AE85D23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621" y="3116244"/>
            <a:ext cx="2103120" cy="13234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SQS에 submission_id 전달</a:t>
            </a:r>
          </a:p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Worker ASG → Docker Sandbox</a:t>
            </a:r>
          </a:p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격리된 코드 실행</a:t>
            </a: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5F75AF61-CAD5-D098-B81D-55C6F0C6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355" y="3112623"/>
            <a:ext cx="2103120" cy="8617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API Gateway → Lambda</a:t>
            </a:r>
          </a:p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ALB → FastAPI</a:t>
            </a:r>
          </a:p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빠른 PENDING 응답</a:t>
            </a: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50A7E008-B364-02C6-D94B-9E2F2AACA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409" y="3118104"/>
            <a:ext cx="21031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React·Vite 프론트엔드</a:t>
            </a:r>
          </a:p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시험 입장·코드 제출</a:t>
            </a:r>
          </a:p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결과 및 리포트 조회</a:t>
            </a:r>
          </a:p>
        </p:txBody>
      </p:sp>
      <p:sp>
        <p:nvSpPr>
          <p:cNvPr id="48" name="Text 3">
            <a:extLst xmlns:a="http://schemas.openxmlformats.org/drawingml/2006/main">
              <a:ext uri="{FF2B5EF4-FFF2-40B4-BE49-F238E27FC236}">
                <a16:creationId xmlns:a16="http://schemas.microsoft.com/office/drawing/2014/main" id="{CE91A923-A922-0414-EB38-B954C033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92240"/>
            <a:ext cx="43891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chemeClr val="tx1">
                    <a:lumMod val="50000"/>
                    <a:lumOff val="50000"/>
                  </a:schemeClr>
                </a:solidFill>
                <a:latin typeface="Pretendard"/>
                <a:ea typeface="Pretendard"/>
                <a:cs typeface="Pretendard"/>
              </a:rPr>
              <a:t>HUFSOLVE | Cloud Computing Final</a:t>
            </a:r>
          </a:p>
        </p:txBody>
      </p:sp>
      <p:sp>
        <p:nvSpPr>
          <p:cNvPr id="5" name="Shape 0">
            <a:extLst xmlns:a="http://schemas.openxmlformats.org/drawingml/2006/main">
              <a:ext uri="{FF2B5EF4-FFF2-40B4-BE49-F238E27FC236}">
                <a16:creationId xmlns:a16="http://schemas.microsoft.com/office/drawing/2014/main" id="{84FEDC36-6112-F62F-A133-65D2EBA6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95000"/>
              <a:lumOff val="5000"/>
            </a:schemeClr>
          </a:solidFill>
          <a:ln xmlns:a="http://schemas.openxmlformats.org/drawingml/2006/main" w="12700">
            <a:solidFill>
              <a:schemeClr val="tx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24588708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그림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af2cd6578d4e21">
            <a:alphaModFix amt="9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51522" y="-611505"/>
            <a:ext cx="4483989" cy="4483989"/>
          </a:xfrm>
          <a:prstGeom xmlns:a="http://schemas.openxmlformats.org/drawingml/2006/main" prst="rect">
            <a:avLst/>
          </a:prstGeom>
        </p:spPr>
      </p:pic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1E42BFD-59B1-3622-FB0D-E6D6A386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8638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latin typeface="Pretendard Black"/>
                <a:ea typeface="Pretendard Black"/>
                <a:cs typeface="Pretendard Black"/>
              </a:rPr>
              <a:t>병렬 채점으로 테스트케이스 병목을 줄였다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F907327-39AA-F718-4349-A3A024BEA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28232"/>
            <a:ext cx="411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 b="1">
                <a:solidFill>
                  <a:schemeClr val="tx1">
                    <a:lumMod val="50000"/>
                    <a:lumOff val="50000"/>
                  </a:schemeClr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4DE5109A-3DAE-33C8-B192-68C020CA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609344"/>
            <a:ext cx="2381514" cy="301752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1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D1D5DB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E5AA534-9295-7B40-9055-8990B178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3169" y="2097325"/>
            <a:ext cx="2103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72A"/>
                </a:solidFill>
                <a:latin typeface="Pretendard SemiBold"/>
                <a:ea typeface="Pretendard SemiBold"/>
                <a:cs typeface="Pretendard SemiBold"/>
              </a:rPr>
              <a:t>문제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40F99CA-314D-3195-7FB9-FF5AD888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409" y="2092889"/>
            <a:ext cx="2103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>
                <a:solidFill>
                  <a:srgbClr val="64748B"/>
                </a:solidFill>
                <a:latin typeface="Pretendard SemiBold"/>
                <a:ea typeface="Pretendard SemiBold"/>
                <a:cs typeface="Pretendard SemiBold"/>
              </a:rPr>
              <a:t>01</a:t>
            </a:r>
          </a:p>
        </p:txBody>
      </p:sp>
      <p:sp>
        <p:nvSpPr>
          <p:cNvPr id="29" name="Shape 5">
            <a:extLst xmlns:a="http://schemas.openxmlformats.org/drawingml/2006/main">
              <a:ext uri="{FF2B5EF4-FFF2-40B4-BE49-F238E27FC236}">
                <a16:creationId xmlns:a16="http://schemas.microsoft.com/office/drawing/2014/main" id="{BE22DD41-FAAE-7B08-24E9-BC75555E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58" y="1609344"/>
            <a:ext cx="2381514" cy="301752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1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D1D5DB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5">
            <a:extLst xmlns:a="http://schemas.openxmlformats.org/drawingml/2006/main">
              <a:ext uri="{FF2B5EF4-FFF2-40B4-BE49-F238E27FC236}">
                <a16:creationId xmlns:a16="http://schemas.microsoft.com/office/drawing/2014/main" id="{1C93D076-78E8-AB6B-D490-0002D0C6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9523" y="1609344"/>
            <a:ext cx="2381514" cy="301752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1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D1D5DB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5">
            <a:extLst xmlns:a="http://schemas.openxmlformats.org/drawingml/2006/main">
              <a:ext uri="{FF2B5EF4-FFF2-40B4-BE49-F238E27FC236}">
                <a16:creationId xmlns:a16="http://schemas.microsoft.com/office/drawing/2014/main" id="{B2B55E92-40A8-C3CE-8A3C-A6C67C67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1808" y="1609344"/>
            <a:ext cx="2381514" cy="301752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1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D1D5DB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7">
            <a:extLst xmlns:a="http://schemas.openxmlformats.org/drawingml/2006/main">
              <a:ext uri="{FF2B5EF4-FFF2-40B4-BE49-F238E27FC236}">
                <a16:creationId xmlns:a16="http://schemas.microsoft.com/office/drawing/2014/main" id="{7917FF4B-2822-75D7-4E13-08827DC2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6115" y="2097325"/>
            <a:ext cx="2103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72A"/>
                </a:solidFill>
                <a:latin typeface="Pretendard SemiBold"/>
                <a:ea typeface="Pretendard SemiBold"/>
                <a:cs typeface="Pretendard SemiBold"/>
              </a:rPr>
              <a:t>원인</a:t>
            </a:r>
          </a:p>
        </p:txBody>
      </p:sp>
      <p:sp>
        <p:nvSpPr>
          <p:cNvPr id="36" name="Text 8">
            <a:extLst xmlns:a="http://schemas.openxmlformats.org/drawingml/2006/main">
              <a:ext uri="{FF2B5EF4-FFF2-40B4-BE49-F238E27FC236}">
                <a16:creationId xmlns:a16="http://schemas.microsoft.com/office/drawing/2014/main" id="{B0BC4C87-E8D3-F37A-7545-AF059F93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355" y="2092889"/>
            <a:ext cx="2103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>
                <a:latin typeface="Pretendard SemiBold"/>
                <a:ea typeface="Pretendard SemiBold"/>
                <a:cs typeface="Pretendard SemiBold"/>
              </a:rPr>
              <a:t>02</a:t>
            </a:r>
          </a:p>
        </p:txBody>
      </p:sp>
      <p:sp>
        <p:nvSpPr>
          <p:cNvPr id="37" name="Text 7">
            <a:extLst xmlns:a="http://schemas.openxmlformats.org/drawingml/2006/main">
              <a:ext uri="{FF2B5EF4-FFF2-40B4-BE49-F238E27FC236}">
                <a16:creationId xmlns:a16="http://schemas.microsoft.com/office/drawing/2014/main" id="{BCD553A5-4A3E-007C-0C41-FA1A3684D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92889"/>
            <a:ext cx="2103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72A"/>
                </a:solidFill>
                <a:latin typeface="Pretendard SemiBold"/>
                <a:ea typeface="Pretendard SemiBold"/>
                <a:cs typeface="Pretendard SemiBold"/>
              </a:rPr>
              <a:t>개선</a:t>
            </a:r>
          </a:p>
        </p:txBody>
      </p:sp>
      <p:sp>
        <p:nvSpPr>
          <p:cNvPr id="38" name="Text 8">
            <a:extLst xmlns:a="http://schemas.openxmlformats.org/drawingml/2006/main">
              <a:ext uri="{FF2B5EF4-FFF2-40B4-BE49-F238E27FC236}">
                <a16:creationId xmlns:a16="http://schemas.microsoft.com/office/drawing/2014/main" id="{BC251223-5F74-0DBA-BD3B-1733E0592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4440" y="2088453"/>
            <a:ext cx="2103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>
                <a:latin typeface="Pretendard SemiBold"/>
                <a:ea typeface="Pretendard SemiBold"/>
                <a:cs typeface="Pretendard SemiBold"/>
              </a:rPr>
              <a:t>03</a:t>
            </a:r>
          </a:p>
        </p:txBody>
      </p:sp>
      <p:sp>
        <p:nvSpPr>
          <p:cNvPr id="39" name="Text 7">
            <a:extLst xmlns:a="http://schemas.openxmlformats.org/drawingml/2006/main">
              <a:ext uri="{FF2B5EF4-FFF2-40B4-BE49-F238E27FC236}">
                <a16:creationId xmlns:a16="http://schemas.microsoft.com/office/drawing/2014/main" id="{F3402B3C-65C1-60EA-114A-B45BD8B1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7231" y="2101761"/>
            <a:ext cx="2103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72A"/>
                </a:solidFill>
                <a:latin typeface="Pretendard"/>
                <a:ea typeface="Pretendard"/>
                <a:cs typeface="Pretendard"/>
              </a:rPr>
              <a:t>효과</a:t>
            </a:r>
          </a:p>
        </p:txBody>
      </p:sp>
      <p:sp>
        <p:nvSpPr>
          <p:cNvPr id="40" name="Text 8">
            <a:extLst xmlns:a="http://schemas.openxmlformats.org/drawingml/2006/main">
              <a:ext uri="{FF2B5EF4-FFF2-40B4-BE49-F238E27FC236}">
                <a16:creationId xmlns:a16="http://schemas.microsoft.com/office/drawing/2014/main" id="{EA46A4B1-4916-AF03-021A-8D5AE798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471" y="2097325"/>
            <a:ext cx="2103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>
                <a:latin typeface="Pretendard SemiBold"/>
                <a:ea typeface="Pretendard SemiBold"/>
                <a:cs typeface="Pretendard SemiBold"/>
              </a:rPr>
              <a:t>04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95051150-F093-2332-E12B-7D695BDE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1005" y="3118104"/>
            <a:ext cx="210312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동일 채점 정확도를 유지하며</a:t>
            </a:r>
          </a:p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문제 단위 처리 시간을 줄여</a:t>
            </a:r>
          </a:p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Worker 처리량 개선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EBC44DB0-D2FE-8E48-07CF-7AE85D23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621" y="3116244"/>
            <a:ext cx="2103120" cy="13234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독립 테스트케이스를</a:t>
            </a:r>
          </a:p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병렬로 실행하고</a:t>
            </a:r>
          </a:p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결과를 안전하게 집계</a:t>
            </a: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5F75AF61-CAD5-D098-B81D-55C6F0C6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355" y="3112623"/>
            <a:ext cx="2103120" cy="975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하나의 제출 안에서도</a:t>
            </a:r>
          </a:p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독립적인 테스트케이스를</a:t>
            </a:r>
          </a:p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차례대로 실행</a:t>
            </a: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50A7E008-B364-02C6-D94B-9E2F2AACA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409" y="3118104"/>
            <a:ext cx="210312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테스트케이스가 많아질수록</a:t>
            </a:r>
          </a:p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순차 실행 시간이 누적되어</a:t>
            </a:r>
          </a:p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최종 채점이 지연</a:t>
            </a:r>
          </a:p>
        </p:txBody>
      </p:sp>
      <p:sp>
        <p:nvSpPr>
          <p:cNvPr id="48" name="Text 3">
            <a:extLst xmlns:a="http://schemas.openxmlformats.org/drawingml/2006/main">
              <a:ext uri="{FF2B5EF4-FFF2-40B4-BE49-F238E27FC236}">
                <a16:creationId xmlns:a16="http://schemas.microsoft.com/office/drawing/2014/main" id="{CE91A923-A922-0414-EB38-B954C033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92240"/>
            <a:ext cx="43891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chemeClr val="tx1">
                    <a:lumMod val="50000"/>
                    <a:lumOff val="50000"/>
                  </a:schemeClr>
                </a:solidFill>
                <a:latin typeface="Pretendard"/>
                <a:ea typeface="Pretendard"/>
                <a:cs typeface="Pretendard"/>
              </a:rPr>
              <a:t>HUFSOLVE | Cloud Computing Final</a:t>
            </a:r>
          </a:p>
        </p:txBody>
      </p:sp>
      <p:sp>
        <p:nvSpPr>
          <p:cNvPr id="5" name="Shape 0">
            <a:extLst xmlns:a="http://schemas.openxmlformats.org/drawingml/2006/main">
              <a:ext uri="{FF2B5EF4-FFF2-40B4-BE49-F238E27FC236}">
                <a16:creationId xmlns:a16="http://schemas.microsoft.com/office/drawing/2014/main" id="{84FEDC36-6112-F62F-A133-65D2EBA6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95000"/>
              <a:lumOff val="5000"/>
            </a:schemeClr>
          </a:solidFill>
          <a:ln xmlns:a="http://schemas.openxmlformats.org/drawingml/2006/main" w="12700">
            <a:solidFill>
              <a:schemeClr val="tx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24588708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그림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c7d4ac0a0341b2">
            <a:alphaModFix amt="9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51522" y="-611505"/>
            <a:ext cx="4483989" cy="4483989"/>
          </a:xfrm>
          <a:prstGeom xmlns:a="http://schemas.openxmlformats.org/drawingml/2006/main" prst="rect">
            <a:avLst/>
          </a:prstGeom>
        </p:spPr>
      </p:pic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1E42BFD-59B1-3622-FB0D-E6D6A386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8638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latin typeface="Pretendard Black"/>
                <a:ea typeface="Pretendard Black"/>
                <a:cs typeface="Pretendard Black"/>
              </a:rPr>
              <a:t>부하 테스트로 빠른 접수와 큐 소진을 검증했다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F907327-39AA-F718-4349-A3A024BEA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28232"/>
            <a:ext cx="411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 b="1">
                <a:solidFill>
                  <a:schemeClr val="tx1">
                    <a:lumMod val="50000"/>
                    <a:lumOff val="50000"/>
                  </a:schemeClr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4DE5109A-3DAE-33C8-B192-68C020CA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609344"/>
            <a:ext cx="2381514" cy="301752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1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D1D5DB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E5AA534-9295-7B40-9055-8990B178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3169" y="2097325"/>
            <a:ext cx="2103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72A"/>
                </a:solidFill>
                <a:latin typeface="Pretendard SemiBold"/>
                <a:ea typeface="Pretendard SemiBold"/>
                <a:cs typeface="Pretendard SemiBold"/>
              </a:rPr>
              <a:t>시나리오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40F99CA-314D-3195-7FB9-FF5AD888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409" y="2092889"/>
            <a:ext cx="2103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>
                <a:solidFill>
                  <a:srgbClr val="64748B"/>
                </a:solidFill>
                <a:latin typeface="Pretendard SemiBold"/>
                <a:ea typeface="Pretendard SemiBold"/>
                <a:cs typeface="Pretendard SemiBold"/>
              </a:rPr>
              <a:t>01</a:t>
            </a:r>
          </a:p>
        </p:txBody>
      </p:sp>
      <p:sp>
        <p:nvSpPr>
          <p:cNvPr id="29" name="Shape 5">
            <a:extLst xmlns:a="http://schemas.openxmlformats.org/drawingml/2006/main">
              <a:ext uri="{FF2B5EF4-FFF2-40B4-BE49-F238E27FC236}">
                <a16:creationId xmlns:a16="http://schemas.microsoft.com/office/drawing/2014/main" id="{BE22DD41-FAAE-7B08-24E9-BC75555E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58" y="1609344"/>
            <a:ext cx="2381514" cy="301752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1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D1D5DB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5">
            <a:extLst xmlns:a="http://schemas.openxmlformats.org/drawingml/2006/main">
              <a:ext uri="{FF2B5EF4-FFF2-40B4-BE49-F238E27FC236}">
                <a16:creationId xmlns:a16="http://schemas.microsoft.com/office/drawing/2014/main" id="{1C93D076-78E8-AB6B-D490-0002D0C6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9523" y="1609344"/>
            <a:ext cx="2381514" cy="301752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1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D1D5DB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5">
            <a:extLst xmlns:a="http://schemas.openxmlformats.org/drawingml/2006/main">
              <a:ext uri="{FF2B5EF4-FFF2-40B4-BE49-F238E27FC236}">
                <a16:creationId xmlns:a16="http://schemas.microsoft.com/office/drawing/2014/main" id="{B2B55E92-40A8-C3CE-8A3C-A6C67C67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1808" y="1609344"/>
            <a:ext cx="2381514" cy="301752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1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D1D5DB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7">
            <a:extLst xmlns:a="http://schemas.openxmlformats.org/drawingml/2006/main">
              <a:ext uri="{FF2B5EF4-FFF2-40B4-BE49-F238E27FC236}">
                <a16:creationId xmlns:a16="http://schemas.microsoft.com/office/drawing/2014/main" id="{7917FF4B-2822-75D7-4E13-08827DC2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6115" y="2097325"/>
            <a:ext cx="2103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72A"/>
                </a:solidFill>
                <a:latin typeface="Pretendard SemiBold"/>
                <a:ea typeface="Pretendard SemiBold"/>
                <a:cs typeface="Pretendard SemiBold"/>
              </a:rPr>
              <a:t>검증 기준</a:t>
            </a:r>
          </a:p>
        </p:txBody>
      </p:sp>
      <p:sp>
        <p:nvSpPr>
          <p:cNvPr id="36" name="Text 8">
            <a:extLst xmlns:a="http://schemas.openxmlformats.org/drawingml/2006/main">
              <a:ext uri="{FF2B5EF4-FFF2-40B4-BE49-F238E27FC236}">
                <a16:creationId xmlns:a16="http://schemas.microsoft.com/office/drawing/2014/main" id="{B0BC4C87-E8D3-F37A-7545-AF059F93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355" y="2092889"/>
            <a:ext cx="2103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>
                <a:latin typeface="Pretendard SemiBold"/>
                <a:ea typeface="Pretendard SemiBold"/>
                <a:cs typeface="Pretendard SemiBold"/>
              </a:rPr>
              <a:t>02</a:t>
            </a:r>
          </a:p>
        </p:txBody>
      </p:sp>
      <p:sp>
        <p:nvSpPr>
          <p:cNvPr id="37" name="Text 7">
            <a:extLst xmlns:a="http://schemas.openxmlformats.org/drawingml/2006/main">
              <a:ext uri="{FF2B5EF4-FFF2-40B4-BE49-F238E27FC236}">
                <a16:creationId xmlns:a16="http://schemas.microsoft.com/office/drawing/2014/main" id="{BCD553A5-4A3E-007C-0C41-FA1A3684D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92889"/>
            <a:ext cx="2103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72A"/>
                </a:solidFill>
                <a:latin typeface="Pretendard SemiBold"/>
                <a:ea typeface="Pretendard SemiBold"/>
                <a:cs typeface="Pretendard SemiBold"/>
              </a:rPr>
              <a:t>그래프 삽입</a:t>
            </a:r>
          </a:p>
        </p:txBody>
      </p:sp>
      <p:sp>
        <p:nvSpPr>
          <p:cNvPr id="38" name="Text 8">
            <a:extLst xmlns:a="http://schemas.openxmlformats.org/drawingml/2006/main">
              <a:ext uri="{FF2B5EF4-FFF2-40B4-BE49-F238E27FC236}">
                <a16:creationId xmlns:a16="http://schemas.microsoft.com/office/drawing/2014/main" id="{BC251223-5F74-0DBA-BD3B-1733E0592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4440" y="2088453"/>
            <a:ext cx="2103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>
                <a:latin typeface="Pretendard SemiBold"/>
                <a:ea typeface="Pretendard SemiBold"/>
                <a:cs typeface="Pretendard SemiBold"/>
              </a:rPr>
              <a:t>03</a:t>
            </a:r>
          </a:p>
        </p:txBody>
      </p:sp>
      <p:sp>
        <p:nvSpPr>
          <p:cNvPr id="39" name="Text 7">
            <a:extLst xmlns:a="http://schemas.openxmlformats.org/drawingml/2006/main">
              <a:ext uri="{FF2B5EF4-FFF2-40B4-BE49-F238E27FC236}">
                <a16:creationId xmlns:a16="http://schemas.microsoft.com/office/drawing/2014/main" id="{F3402B3C-65C1-60EA-114A-B45BD8B1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7231" y="2101761"/>
            <a:ext cx="2103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72A"/>
                </a:solidFill>
                <a:latin typeface="Pretendard"/>
                <a:ea typeface="Pretendard"/>
                <a:cs typeface="Pretendard"/>
              </a:rPr>
              <a:t>결과 삽입</a:t>
            </a:r>
          </a:p>
        </p:txBody>
      </p:sp>
      <p:sp>
        <p:nvSpPr>
          <p:cNvPr id="40" name="Text 8">
            <a:extLst xmlns:a="http://schemas.openxmlformats.org/drawingml/2006/main">
              <a:ext uri="{FF2B5EF4-FFF2-40B4-BE49-F238E27FC236}">
                <a16:creationId xmlns:a16="http://schemas.microsoft.com/office/drawing/2014/main" id="{EA46A4B1-4916-AF03-021A-8D5AE798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471" y="2097325"/>
            <a:ext cx="2103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>
                <a:latin typeface="Pretendard SemiBold"/>
                <a:ea typeface="Pretendard SemiBold"/>
                <a:cs typeface="Pretendard SemiBold"/>
              </a:rPr>
              <a:t>04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95051150-F093-2332-E12B-7D695BDE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1005" y="3118104"/>
            <a:ext cx="2103120" cy="975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부하 테스트 결과 삽입</a:t>
            </a:r>
          </a:p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/>
            </a:r>
          </a:p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응답 지연 · 완료 상태 · 오류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EBC44DB0-D2FE-8E48-07CF-7AE85D23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621" y="3116244"/>
            <a:ext cx="2103120" cy="13234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CloudWatch 지표 삽입</a:t>
            </a:r>
          </a:p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/>
            </a:r>
          </a:p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SQS backlog · Worker capacity</a:t>
            </a: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5F75AF61-CAD5-D098-B81D-55C6F0C6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355" y="3112623"/>
            <a:ext cx="2103120" cy="975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Worker ASG scale-out</a:t>
            </a:r>
          </a:p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큐가 처리 후 감소</a:t>
            </a:r>
          </a:p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제출이 최종 상태에 도달</a:t>
            </a: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50A7E008-B364-02C6-D94B-9E2F2AACA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409" y="3118104"/>
            <a:ext cx="2103120" cy="975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동시 제출 burst 발생</a:t>
            </a:r>
          </a:p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API는 빠르게 PENDING 반환</a:t>
            </a:r>
          </a:p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SQS backlog 증가</a:t>
            </a:r>
          </a:p>
        </p:txBody>
      </p:sp>
      <p:sp>
        <p:nvSpPr>
          <p:cNvPr id="48" name="Text 3">
            <a:extLst xmlns:a="http://schemas.openxmlformats.org/drawingml/2006/main">
              <a:ext uri="{FF2B5EF4-FFF2-40B4-BE49-F238E27FC236}">
                <a16:creationId xmlns:a16="http://schemas.microsoft.com/office/drawing/2014/main" id="{CE91A923-A922-0414-EB38-B954C033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92240"/>
            <a:ext cx="43891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chemeClr val="tx1">
                    <a:lumMod val="50000"/>
                    <a:lumOff val="50000"/>
                  </a:schemeClr>
                </a:solidFill>
                <a:latin typeface="Pretendard"/>
                <a:ea typeface="Pretendard"/>
                <a:cs typeface="Pretendard"/>
              </a:rPr>
              <a:t>HUFSOLVE | Cloud Computing Final</a:t>
            </a:r>
          </a:p>
        </p:txBody>
      </p:sp>
      <p:sp>
        <p:nvSpPr>
          <p:cNvPr id="5" name="Shape 0">
            <a:extLst xmlns:a="http://schemas.openxmlformats.org/drawingml/2006/main">
              <a:ext uri="{FF2B5EF4-FFF2-40B4-BE49-F238E27FC236}">
                <a16:creationId xmlns:a16="http://schemas.microsoft.com/office/drawing/2014/main" id="{84FEDC36-6112-F62F-A133-65D2EBA6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95000"/>
              <a:lumOff val="5000"/>
            </a:schemeClr>
          </a:solidFill>
          <a:ln xmlns:a="http://schemas.openxmlformats.org/drawingml/2006/main" w="12700">
            <a:solidFill>
              <a:schemeClr val="tx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24588708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그림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a0465f17d74008">
            <a:alphaModFix amt="9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51522" y="-611505"/>
            <a:ext cx="4483989" cy="4483989"/>
          </a:xfrm>
          <a:prstGeom xmlns:a="http://schemas.openxmlformats.org/drawingml/2006/main" prst="rect">
            <a:avLst/>
          </a:prstGeom>
        </p:spPr>
      </p:pic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1E42BFD-59B1-3622-FB0D-E6D6A386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8638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latin typeface="Pretendard Black"/>
                <a:ea typeface="Pretendard Black"/>
                <a:cs typeface="Pretendard Black"/>
              </a:rPr>
              <a:t>학번 로그인으로 학교 사용자만 인증한다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F907327-39AA-F718-4349-A3A024BEA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28232"/>
            <a:ext cx="411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 b="1">
                <a:solidFill>
                  <a:schemeClr val="tx1">
                    <a:lumMod val="50000"/>
                    <a:lumOff val="50000"/>
                  </a:schemeClr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4DE5109A-3DAE-33C8-B192-68C020CA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609344"/>
            <a:ext cx="2381514" cy="301752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1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D1D5DB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E5AA534-9295-7B40-9055-8990B178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3169" y="2097325"/>
            <a:ext cx="2103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72A"/>
                </a:solidFill>
                <a:latin typeface="Pretendard SemiBold"/>
                <a:ea typeface="Pretendard SemiBold"/>
                <a:cs typeface="Pretendard SemiBold"/>
              </a:rPr>
              <a:t>검증 규칙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40F99CA-314D-3195-7FB9-FF5AD888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409" y="2092889"/>
            <a:ext cx="2103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>
                <a:solidFill>
                  <a:srgbClr val="64748B"/>
                </a:solidFill>
                <a:latin typeface="Pretendard SemiBold"/>
                <a:ea typeface="Pretendard SemiBold"/>
                <a:cs typeface="Pretendard SemiBold"/>
              </a:rPr>
              <a:t>01</a:t>
            </a:r>
          </a:p>
        </p:txBody>
      </p:sp>
      <p:sp>
        <p:nvSpPr>
          <p:cNvPr id="29" name="Shape 5">
            <a:extLst xmlns:a="http://schemas.openxmlformats.org/drawingml/2006/main">
              <a:ext uri="{FF2B5EF4-FFF2-40B4-BE49-F238E27FC236}">
                <a16:creationId xmlns:a16="http://schemas.microsoft.com/office/drawing/2014/main" id="{BE22DD41-FAAE-7B08-24E9-BC75555E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58" y="1609344"/>
            <a:ext cx="2381514" cy="301752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1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D1D5DB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5">
            <a:extLst xmlns:a="http://schemas.openxmlformats.org/drawingml/2006/main">
              <a:ext uri="{FF2B5EF4-FFF2-40B4-BE49-F238E27FC236}">
                <a16:creationId xmlns:a16="http://schemas.microsoft.com/office/drawing/2014/main" id="{1C93D076-78E8-AB6B-D490-0002D0C6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9523" y="1609344"/>
            <a:ext cx="2381514" cy="301752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1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D1D5DB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5">
            <a:extLst xmlns:a="http://schemas.openxmlformats.org/drawingml/2006/main">
              <a:ext uri="{FF2B5EF4-FFF2-40B4-BE49-F238E27FC236}">
                <a16:creationId xmlns:a16="http://schemas.microsoft.com/office/drawing/2014/main" id="{B2B55E92-40A8-C3CE-8A3C-A6C67C67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1808" y="1609344"/>
            <a:ext cx="2381514" cy="301752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1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D1D5DB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7">
            <a:extLst xmlns:a="http://schemas.openxmlformats.org/drawingml/2006/main">
              <a:ext uri="{FF2B5EF4-FFF2-40B4-BE49-F238E27FC236}">
                <a16:creationId xmlns:a16="http://schemas.microsoft.com/office/drawing/2014/main" id="{7917FF4B-2822-75D7-4E13-08827DC2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6115" y="2097325"/>
            <a:ext cx="2103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72A"/>
                </a:solidFill>
                <a:latin typeface="Pretendard SemiBold"/>
                <a:ea typeface="Pretendard SemiBold"/>
                <a:cs typeface="Pretendard SemiBold"/>
              </a:rPr>
              <a:t>인증 흐름</a:t>
            </a:r>
          </a:p>
        </p:txBody>
      </p:sp>
      <p:sp>
        <p:nvSpPr>
          <p:cNvPr id="36" name="Text 8">
            <a:extLst xmlns:a="http://schemas.openxmlformats.org/drawingml/2006/main">
              <a:ext uri="{FF2B5EF4-FFF2-40B4-BE49-F238E27FC236}">
                <a16:creationId xmlns:a16="http://schemas.microsoft.com/office/drawing/2014/main" id="{B0BC4C87-E8D3-F37A-7545-AF059F93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355" y="2092889"/>
            <a:ext cx="2103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>
                <a:latin typeface="Pretendard SemiBold"/>
                <a:ea typeface="Pretendard SemiBold"/>
                <a:cs typeface="Pretendard SemiBold"/>
              </a:rPr>
              <a:t>02</a:t>
            </a:r>
          </a:p>
        </p:txBody>
      </p:sp>
      <p:sp>
        <p:nvSpPr>
          <p:cNvPr id="37" name="Text 7">
            <a:extLst xmlns:a="http://schemas.openxmlformats.org/drawingml/2006/main">
              <a:ext uri="{FF2B5EF4-FFF2-40B4-BE49-F238E27FC236}">
                <a16:creationId xmlns:a16="http://schemas.microsoft.com/office/drawing/2014/main" id="{BCD553A5-4A3E-007C-0C41-FA1A3684D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92889"/>
            <a:ext cx="2103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72A"/>
                </a:solidFill>
                <a:latin typeface="Pretendard SemiBold"/>
                <a:ea typeface="Pretendard SemiBold"/>
                <a:cs typeface="Pretendard SemiBold"/>
              </a:rPr>
              <a:t>시연 화면 A</a:t>
            </a:r>
          </a:p>
        </p:txBody>
      </p:sp>
      <p:sp>
        <p:nvSpPr>
          <p:cNvPr id="38" name="Text 8">
            <a:extLst xmlns:a="http://schemas.openxmlformats.org/drawingml/2006/main">
              <a:ext uri="{FF2B5EF4-FFF2-40B4-BE49-F238E27FC236}">
                <a16:creationId xmlns:a16="http://schemas.microsoft.com/office/drawing/2014/main" id="{BC251223-5F74-0DBA-BD3B-1733E0592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4440" y="2088453"/>
            <a:ext cx="2103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>
                <a:latin typeface="Pretendard SemiBold"/>
                <a:ea typeface="Pretendard SemiBold"/>
                <a:cs typeface="Pretendard SemiBold"/>
              </a:rPr>
              <a:t>▶</a:t>
            </a:r>
          </a:p>
        </p:txBody>
      </p:sp>
      <p:sp>
        <p:nvSpPr>
          <p:cNvPr id="39" name="Text 7">
            <a:extLst xmlns:a="http://schemas.openxmlformats.org/drawingml/2006/main">
              <a:ext uri="{FF2B5EF4-FFF2-40B4-BE49-F238E27FC236}">
                <a16:creationId xmlns:a16="http://schemas.microsoft.com/office/drawing/2014/main" id="{F3402B3C-65C1-60EA-114A-B45BD8B1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7231" y="2101761"/>
            <a:ext cx="2103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72A"/>
                </a:solidFill>
                <a:latin typeface="Pretendard"/>
                <a:ea typeface="Pretendard"/>
                <a:cs typeface="Pretendard"/>
              </a:rPr>
              <a:t>시연 화면 B</a:t>
            </a:r>
          </a:p>
        </p:txBody>
      </p:sp>
      <p:sp>
        <p:nvSpPr>
          <p:cNvPr id="40" name="Text 8">
            <a:extLst xmlns:a="http://schemas.openxmlformats.org/drawingml/2006/main">
              <a:ext uri="{FF2B5EF4-FFF2-40B4-BE49-F238E27FC236}">
                <a16:creationId xmlns:a16="http://schemas.microsoft.com/office/drawing/2014/main" id="{EA46A4B1-4916-AF03-021A-8D5AE798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471" y="2097325"/>
            <a:ext cx="2103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>
                <a:latin typeface="Pretendard SemiBold"/>
                <a:ea typeface="Pretendard SemiBold"/>
                <a:cs typeface="Pretendard SemiBold"/>
              </a:rPr>
              <a:t>▶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95051150-F093-2332-E12B-7D695BDE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1005" y="3118104"/>
            <a:ext cx="2103120" cy="8617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인증 시연 영상 삽입</a:t>
            </a:r>
          </a:p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/>
            </a:r>
          </a:p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코드 발송·확인·로그인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EBC44DB0-D2FE-8E48-07CF-7AE85D23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621" y="3116244"/>
            <a:ext cx="2103120" cy="13234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로그인 페이지 삽입</a:t>
            </a:r>
          </a:p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/>
            </a:r>
          </a:p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학번·이름·학교 이메일 입력</a:t>
            </a: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5F75AF61-CAD5-D098-B81D-55C6F0C6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355" y="3112623"/>
            <a:ext cx="2103120" cy="975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SMTP로 6자리 코드 발송</a:t>
            </a:r>
          </a:p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5분 만료·재요청 제한</a:t>
            </a:r>
          </a:p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검증 결과를 RDS에 저장</a:t>
            </a: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50A7E008-B364-02C6-D94B-9E2F2AACA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409" y="3118104"/>
            <a:ext cx="2103120" cy="975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9자리 학번과</a:t>
            </a:r>
          </a:p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학번@hufs.ac.kr 이메일이</a:t>
            </a:r>
          </a:p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일치하는지 확인</a:t>
            </a:r>
          </a:p>
        </p:txBody>
      </p:sp>
      <p:sp>
        <p:nvSpPr>
          <p:cNvPr id="48" name="Text 3">
            <a:extLst xmlns:a="http://schemas.openxmlformats.org/drawingml/2006/main">
              <a:ext uri="{FF2B5EF4-FFF2-40B4-BE49-F238E27FC236}">
                <a16:creationId xmlns:a16="http://schemas.microsoft.com/office/drawing/2014/main" id="{CE91A923-A922-0414-EB38-B954C033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92240"/>
            <a:ext cx="43891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chemeClr val="tx1">
                    <a:lumMod val="50000"/>
                    <a:lumOff val="50000"/>
                  </a:schemeClr>
                </a:solidFill>
                <a:latin typeface="Pretendard"/>
                <a:ea typeface="Pretendard"/>
                <a:cs typeface="Pretendard"/>
              </a:rPr>
              <a:t>HUFSOLVE | Cloud Computing Final</a:t>
            </a:r>
          </a:p>
        </p:txBody>
      </p:sp>
      <p:sp>
        <p:nvSpPr>
          <p:cNvPr id="5" name="Shape 0">
            <a:extLst xmlns:a="http://schemas.openxmlformats.org/drawingml/2006/main">
              <a:ext uri="{FF2B5EF4-FFF2-40B4-BE49-F238E27FC236}">
                <a16:creationId xmlns:a16="http://schemas.microsoft.com/office/drawing/2014/main" id="{84FEDC36-6112-F62F-A133-65D2EBA6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95000"/>
              <a:lumOff val="5000"/>
            </a:schemeClr>
          </a:solidFill>
          <a:ln xmlns:a="http://schemas.openxmlformats.org/drawingml/2006/main" w="12700">
            <a:solidFill>
              <a:schemeClr val="tx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24588708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그림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941f88a0ed48cc">
            <a:alphaModFix amt="9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51522" y="-611505"/>
            <a:ext cx="4483989" cy="4483989"/>
          </a:xfrm>
          <a:prstGeom xmlns:a="http://schemas.openxmlformats.org/drawingml/2006/main" prst="rect">
            <a:avLst/>
          </a:prstGeom>
        </p:spPr>
      </p:pic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1E42BFD-59B1-3622-FB0D-E6D6A386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8638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latin typeface="Pretendard Black"/>
                <a:ea typeface="Pretendard Black"/>
                <a:cs typeface="Pretendard Black"/>
              </a:rPr>
              <a:t>AI 리포트로 학습 피드백을 제공한다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F907327-39AA-F718-4349-A3A024BEA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28232"/>
            <a:ext cx="411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 b="1">
                <a:solidFill>
                  <a:schemeClr val="tx1">
                    <a:lumMod val="50000"/>
                    <a:lumOff val="50000"/>
                  </a:schemeClr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4DE5109A-3DAE-33C8-B192-68C020CA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609344"/>
            <a:ext cx="2381514" cy="301752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1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D1D5DB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E5AA534-9295-7B40-9055-8990B178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3169" y="2097325"/>
            <a:ext cx="2103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72A"/>
                </a:solidFill>
                <a:latin typeface="Pretendard SemiBold"/>
                <a:ea typeface="Pretendard SemiBold"/>
                <a:cs typeface="Pretendard SemiBold"/>
              </a:rPr>
              <a:t>생성 흐름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40F99CA-314D-3195-7FB9-FF5AD888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409" y="2092889"/>
            <a:ext cx="2103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>
                <a:solidFill>
                  <a:srgbClr val="64748B"/>
                </a:solidFill>
                <a:latin typeface="Pretendard SemiBold"/>
                <a:ea typeface="Pretendard SemiBold"/>
                <a:cs typeface="Pretendard SemiBold"/>
              </a:rPr>
              <a:t>01</a:t>
            </a:r>
          </a:p>
        </p:txBody>
      </p:sp>
      <p:sp>
        <p:nvSpPr>
          <p:cNvPr id="29" name="Shape 5">
            <a:extLst xmlns:a="http://schemas.openxmlformats.org/drawingml/2006/main">
              <a:ext uri="{FF2B5EF4-FFF2-40B4-BE49-F238E27FC236}">
                <a16:creationId xmlns:a16="http://schemas.microsoft.com/office/drawing/2014/main" id="{BE22DD41-FAAE-7B08-24E9-BC75555E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58" y="1609344"/>
            <a:ext cx="2381514" cy="301752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1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D1D5DB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5">
            <a:extLst xmlns:a="http://schemas.openxmlformats.org/drawingml/2006/main">
              <a:ext uri="{FF2B5EF4-FFF2-40B4-BE49-F238E27FC236}">
                <a16:creationId xmlns:a16="http://schemas.microsoft.com/office/drawing/2014/main" id="{1C93D076-78E8-AB6B-D490-0002D0C6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9523" y="1609344"/>
            <a:ext cx="2381514" cy="301752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1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D1D5DB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5">
            <a:extLst xmlns:a="http://schemas.openxmlformats.org/drawingml/2006/main">
              <a:ext uri="{FF2B5EF4-FFF2-40B4-BE49-F238E27FC236}">
                <a16:creationId xmlns:a16="http://schemas.microsoft.com/office/drawing/2014/main" id="{B2B55E92-40A8-C3CE-8A3C-A6C67C67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1808" y="1609344"/>
            <a:ext cx="2381514" cy="301752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1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D1D5DB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7">
            <a:extLst xmlns:a="http://schemas.openxmlformats.org/drawingml/2006/main">
              <a:ext uri="{FF2B5EF4-FFF2-40B4-BE49-F238E27FC236}">
                <a16:creationId xmlns:a16="http://schemas.microsoft.com/office/drawing/2014/main" id="{7917FF4B-2822-75D7-4E13-08827DC2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6115" y="2097325"/>
            <a:ext cx="2103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72A"/>
                </a:solidFill>
                <a:latin typeface="Pretendard SemiBold"/>
                <a:ea typeface="Pretendard SemiBold"/>
                <a:cs typeface="Pretendard SemiBold"/>
              </a:rPr>
              <a:t>리포트 내용</a:t>
            </a:r>
          </a:p>
        </p:txBody>
      </p:sp>
      <p:sp>
        <p:nvSpPr>
          <p:cNvPr id="36" name="Text 8">
            <a:extLst xmlns:a="http://schemas.openxmlformats.org/drawingml/2006/main">
              <a:ext uri="{FF2B5EF4-FFF2-40B4-BE49-F238E27FC236}">
                <a16:creationId xmlns:a16="http://schemas.microsoft.com/office/drawing/2014/main" id="{B0BC4C87-E8D3-F37A-7545-AF059F93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355" y="2092889"/>
            <a:ext cx="2103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>
                <a:latin typeface="Pretendard SemiBold"/>
                <a:ea typeface="Pretendard SemiBold"/>
                <a:cs typeface="Pretendard SemiBold"/>
              </a:rPr>
              <a:t>02</a:t>
            </a:r>
          </a:p>
        </p:txBody>
      </p:sp>
      <p:sp>
        <p:nvSpPr>
          <p:cNvPr id="37" name="Text 7">
            <a:extLst xmlns:a="http://schemas.openxmlformats.org/drawingml/2006/main">
              <a:ext uri="{FF2B5EF4-FFF2-40B4-BE49-F238E27FC236}">
                <a16:creationId xmlns:a16="http://schemas.microsoft.com/office/drawing/2014/main" id="{BCD553A5-4A3E-007C-0C41-FA1A3684D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92889"/>
            <a:ext cx="2103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72A"/>
                </a:solidFill>
                <a:latin typeface="Pretendard SemiBold"/>
                <a:ea typeface="Pretendard SemiBold"/>
                <a:cs typeface="Pretendard SemiBold"/>
              </a:rPr>
              <a:t>시연 화면 A</a:t>
            </a:r>
          </a:p>
        </p:txBody>
      </p:sp>
      <p:sp>
        <p:nvSpPr>
          <p:cNvPr id="38" name="Text 8">
            <a:extLst xmlns:a="http://schemas.openxmlformats.org/drawingml/2006/main">
              <a:ext uri="{FF2B5EF4-FFF2-40B4-BE49-F238E27FC236}">
                <a16:creationId xmlns:a16="http://schemas.microsoft.com/office/drawing/2014/main" id="{BC251223-5F74-0DBA-BD3B-1733E0592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4440" y="2088453"/>
            <a:ext cx="2103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>
                <a:latin typeface="Pretendard SemiBold"/>
                <a:ea typeface="Pretendard SemiBold"/>
                <a:cs typeface="Pretendard SemiBold"/>
              </a:rPr>
              <a:t>▶</a:t>
            </a:r>
          </a:p>
        </p:txBody>
      </p:sp>
      <p:sp>
        <p:nvSpPr>
          <p:cNvPr id="39" name="Text 7">
            <a:extLst xmlns:a="http://schemas.openxmlformats.org/drawingml/2006/main">
              <a:ext uri="{FF2B5EF4-FFF2-40B4-BE49-F238E27FC236}">
                <a16:creationId xmlns:a16="http://schemas.microsoft.com/office/drawing/2014/main" id="{F3402B3C-65C1-60EA-114A-B45BD8B1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7231" y="2101761"/>
            <a:ext cx="2103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72A"/>
                </a:solidFill>
                <a:latin typeface="Pretendard"/>
                <a:ea typeface="Pretendard"/>
                <a:cs typeface="Pretendard"/>
              </a:rPr>
              <a:t>시연 화면 B</a:t>
            </a:r>
          </a:p>
        </p:txBody>
      </p:sp>
      <p:sp>
        <p:nvSpPr>
          <p:cNvPr id="40" name="Text 8">
            <a:extLst xmlns:a="http://schemas.openxmlformats.org/drawingml/2006/main">
              <a:ext uri="{FF2B5EF4-FFF2-40B4-BE49-F238E27FC236}">
                <a16:creationId xmlns:a16="http://schemas.microsoft.com/office/drawing/2014/main" id="{EA46A4B1-4916-AF03-021A-8D5AE798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471" y="2097325"/>
            <a:ext cx="2103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>
                <a:latin typeface="Pretendard SemiBold"/>
                <a:ea typeface="Pretendard SemiBold"/>
                <a:cs typeface="Pretendard SemiBold"/>
              </a:rPr>
              <a:t>▶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95051150-F093-2332-E12B-7D695BDE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1005" y="3118104"/>
            <a:ext cx="2103120" cy="975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AI 리포트 페이지 삽입</a:t>
            </a:r>
          </a:p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/>
            </a:r>
          </a:p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문제별 피드백·개선 계획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EBC44DB0-D2FE-8E48-07CF-7AE85D23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621" y="3116244"/>
            <a:ext cx="2103120" cy="13234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리포트 생성 화면 삽입</a:t>
            </a:r>
          </a:p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/>
            </a:r>
          </a:p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PENDING → RUNNING →</a:t>
            </a:r>
          </a:p>
          <a:p xmlns:a="http://schemas.openxmlformats.org/drawingml/2006/main">
            <a:r>
              <a:t>COMPLETED</a:t>
            </a: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5F75AF61-CAD5-D098-B81D-55C6F0C6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355" y="3112623"/>
            <a:ext cx="2103120" cy="8617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전체 요약·강점·보완점</a:t>
            </a:r>
          </a:p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문제별 코드 리뷰</a:t>
            </a:r>
          </a:p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다음 학습 계획</a:t>
            </a: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50A7E008-B364-02C6-D94B-9E2F2AACA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409" y="3118104"/>
            <a:ext cx="2103120" cy="975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시험 최종 제출 후</a:t>
            </a:r>
          </a:p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Worker가 리포트 작업을 처리하고</a:t>
            </a:r>
          </a:p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Bedrock 모델을 호출</a:t>
            </a:r>
          </a:p>
        </p:txBody>
      </p:sp>
      <p:sp>
        <p:nvSpPr>
          <p:cNvPr id="48" name="Text 3">
            <a:extLst xmlns:a="http://schemas.openxmlformats.org/drawingml/2006/main">
              <a:ext uri="{FF2B5EF4-FFF2-40B4-BE49-F238E27FC236}">
                <a16:creationId xmlns:a16="http://schemas.microsoft.com/office/drawing/2014/main" id="{CE91A923-A922-0414-EB38-B954C033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92240"/>
            <a:ext cx="43891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chemeClr val="tx1">
                    <a:lumMod val="50000"/>
                    <a:lumOff val="50000"/>
                  </a:schemeClr>
                </a:solidFill>
                <a:latin typeface="Pretendard"/>
                <a:ea typeface="Pretendard"/>
                <a:cs typeface="Pretendard"/>
              </a:rPr>
              <a:t>HUFSOLVE | Cloud Computing Final</a:t>
            </a:r>
          </a:p>
        </p:txBody>
      </p:sp>
      <p:sp>
        <p:nvSpPr>
          <p:cNvPr id="5" name="Shape 0">
            <a:extLst xmlns:a="http://schemas.openxmlformats.org/drawingml/2006/main">
              <a:ext uri="{FF2B5EF4-FFF2-40B4-BE49-F238E27FC236}">
                <a16:creationId xmlns:a16="http://schemas.microsoft.com/office/drawing/2014/main" id="{84FEDC36-6112-F62F-A133-65D2EBA6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95000"/>
              <a:lumOff val="5000"/>
            </a:schemeClr>
          </a:solidFill>
          <a:ln xmlns:a="http://schemas.openxmlformats.org/drawingml/2006/main" w="12700">
            <a:solidFill>
              <a:schemeClr val="tx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24588708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그림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d2f6088a0c4feb">
            <a:alphaModFix amt="9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51522" y="-611505"/>
            <a:ext cx="4483989" cy="4483989"/>
          </a:xfrm>
          <a:prstGeom xmlns:a="http://schemas.openxmlformats.org/drawingml/2006/main" prst="rect">
            <a:avLst/>
          </a:prstGeom>
        </p:spPr>
      </p:pic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1E42BFD-59B1-3622-FB0D-E6D6A386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8638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latin typeface="Pretendard Black"/>
                <a:ea typeface="Pretendard Black"/>
                <a:cs typeface="Pretendard Black"/>
              </a:rPr>
              <a:t>한 번의 제출이 전체 클라우드 흐름을 연결한다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F907327-39AA-F718-4349-A3A024BEA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28232"/>
            <a:ext cx="411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 b="1">
                <a:solidFill>
                  <a:schemeClr val="tx1">
                    <a:lumMod val="50000"/>
                    <a:lumOff val="50000"/>
                  </a:schemeClr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4DE5109A-3DAE-33C8-B192-68C020CA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609344"/>
            <a:ext cx="2381514" cy="301752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1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D1D5DB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E5AA534-9295-7B40-9055-8990B178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3169" y="2097325"/>
            <a:ext cx="2103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72A"/>
                </a:solidFill>
                <a:latin typeface="Pretendard SemiBold"/>
                <a:ea typeface="Pretendard SemiBold"/>
                <a:cs typeface="Pretendard SemiBold"/>
              </a:rPr>
              <a:t>접속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40F99CA-314D-3195-7FB9-FF5AD888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409" y="2092889"/>
            <a:ext cx="2103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>
                <a:solidFill>
                  <a:srgbClr val="64748B"/>
                </a:solidFill>
                <a:latin typeface="Pretendard SemiBold"/>
                <a:ea typeface="Pretendard SemiBold"/>
                <a:cs typeface="Pretendard SemiBold"/>
              </a:rPr>
              <a:t>01</a:t>
            </a:r>
          </a:p>
        </p:txBody>
      </p:sp>
      <p:sp>
        <p:nvSpPr>
          <p:cNvPr id="29" name="Shape 5">
            <a:extLst xmlns:a="http://schemas.openxmlformats.org/drawingml/2006/main">
              <a:ext uri="{FF2B5EF4-FFF2-40B4-BE49-F238E27FC236}">
                <a16:creationId xmlns:a16="http://schemas.microsoft.com/office/drawing/2014/main" id="{BE22DD41-FAAE-7B08-24E9-BC75555E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58" y="1609344"/>
            <a:ext cx="2381514" cy="301752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1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D1D5DB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5">
            <a:extLst xmlns:a="http://schemas.openxmlformats.org/drawingml/2006/main">
              <a:ext uri="{FF2B5EF4-FFF2-40B4-BE49-F238E27FC236}">
                <a16:creationId xmlns:a16="http://schemas.microsoft.com/office/drawing/2014/main" id="{1C93D076-78E8-AB6B-D490-0002D0C6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9523" y="1609344"/>
            <a:ext cx="2381514" cy="301752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1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D1D5DB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5">
            <a:extLst xmlns:a="http://schemas.openxmlformats.org/drawingml/2006/main">
              <a:ext uri="{FF2B5EF4-FFF2-40B4-BE49-F238E27FC236}">
                <a16:creationId xmlns:a16="http://schemas.microsoft.com/office/drawing/2014/main" id="{B2B55E92-40A8-C3CE-8A3C-A6C67C67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1808" y="1609344"/>
            <a:ext cx="2381514" cy="301752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1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D1D5DB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7">
            <a:extLst xmlns:a="http://schemas.openxmlformats.org/drawingml/2006/main">
              <a:ext uri="{FF2B5EF4-FFF2-40B4-BE49-F238E27FC236}">
                <a16:creationId xmlns:a16="http://schemas.microsoft.com/office/drawing/2014/main" id="{7917FF4B-2822-75D7-4E13-08827DC2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6115" y="2097325"/>
            <a:ext cx="2103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72A"/>
                </a:solidFill>
                <a:latin typeface="Pretendard SemiBold"/>
                <a:ea typeface="Pretendard SemiBold"/>
                <a:cs typeface="Pretendard SemiBold"/>
              </a:rPr>
              <a:t>제출</a:t>
            </a:r>
          </a:p>
        </p:txBody>
      </p:sp>
      <p:sp>
        <p:nvSpPr>
          <p:cNvPr id="36" name="Text 8">
            <a:extLst xmlns:a="http://schemas.openxmlformats.org/drawingml/2006/main">
              <a:ext uri="{FF2B5EF4-FFF2-40B4-BE49-F238E27FC236}">
                <a16:creationId xmlns:a16="http://schemas.microsoft.com/office/drawing/2014/main" id="{B0BC4C87-E8D3-F37A-7545-AF059F93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355" y="2092889"/>
            <a:ext cx="2103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>
                <a:latin typeface="Pretendard SemiBold"/>
                <a:ea typeface="Pretendard SemiBold"/>
                <a:cs typeface="Pretendard SemiBold"/>
              </a:rPr>
              <a:t>02</a:t>
            </a:r>
          </a:p>
        </p:txBody>
      </p:sp>
      <p:sp>
        <p:nvSpPr>
          <p:cNvPr id="37" name="Text 7">
            <a:extLst xmlns:a="http://schemas.openxmlformats.org/drawingml/2006/main">
              <a:ext uri="{FF2B5EF4-FFF2-40B4-BE49-F238E27FC236}">
                <a16:creationId xmlns:a16="http://schemas.microsoft.com/office/drawing/2014/main" id="{BCD553A5-4A3E-007C-0C41-FA1A3684D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92889"/>
            <a:ext cx="2103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72A"/>
                </a:solidFill>
                <a:latin typeface="Pretendard SemiBold"/>
                <a:ea typeface="Pretendard SemiBold"/>
                <a:cs typeface="Pretendard SemiBold"/>
              </a:rPr>
              <a:t>채점</a:t>
            </a:r>
          </a:p>
        </p:txBody>
      </p:sp>
      <p:sp>
        <p:nvSpPr>
          <p:cNvPr id="38" name="Text 8">
            <a:extLst xmlns:a="http://schemas.openxmlformats.org/drawingml/2006/main">
              <a:ext uri="{FF2B5EF4-FFF2-40B4-BE49-F238E27FC236}">
                <a16:creationId xmlns:a16="http://schemas.microsoft.com/office/drawing/2014/main" id="{BC251223-5F74-0DBA-BD3B-1733E0592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4440" y="2088453"/>
            <a:ext cx="2103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>
                <a:latin typeface="Pretendard SemiBold"/>
                <a:ea typeface="Pretendard SemiBold"/>
                <a:cs typeface="Pretendard SemiBold"/>
              </a:rPr>
              <a:t>03</a:t>
            </a:r>
          </a:p>
        </p:txBody>
      </p:sp>
      <p:sp>
        <p:nvSpPr>
          <p:cNvPr id="39" name="Text 7">
            <a:extLst xmlns:a="http://schemas.openxmlformats.org/drawingml/2006/main">
              <a:ext uri="{FF2B5EF4-FFF2-40B4-BE49-F238E27FC236}">
                <a16:creationId xmlns:a16="http://schemas.microsoft.com/office/drawing/2014/main" id="{F3402B3C-65C1-60EA-114A-B45BD8B1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7231" y="2101761"/>
            <a:ext cx="2103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72A"/>
                </a:solidFill>
                <a:latin typeface="Pretendard"/>
                <a:ea typeface="Pretendard"/>
                <a:cs typeface="Pretendard"/>
              </a:rPr>
              <a:t>피드백</a:t>
            </a:r>
          </a:p>
        </p:txBody>
      </p:sp>
      <p:sp>
        <p:nvSpPr>
          <p:cNvPr id="40" name="Text 8">
            <a:extLst xmlns:a="http://schemas.openxmlformats.org/drawingml/2006/main">
              <a:ext uri="{FF2B5EF4-FFF2-40B4-BE49-F238E27FC236}">
                <a16:creationId xmlns:a16="http://schemas.microsoft.com/office/drawing/2014/main" id="{EA46A4B1-4916-AF03-021A-8D5AE798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471" y="2097325"/>
            <a:ext cx="2103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>
                <a:latin typeface="Pretendard SemiBold"/>
                <a:ea typeface="Pretendard SemiBold"/>
                <a:cs typeface="Pretendard SemiBold"/>
              </a:rPr>
              <a:t>04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95051150-F093-2332-E12B-7D695BDE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1005" y="3118104"/>
            <a:ext cx="2103120" cy="8617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사용자는 최종 점수와</a:t>
            </a:r>
          </a:p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문제별 AI 리포트를</a:t>
            </a:r>
          </a:p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마이페이지에서 조회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EBC44DB0-D2FE-8E48-07CF-7AE85D23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621" y="3116244"/>
            <a:ext cx="2103120" cy="13234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SQS가 Worker에 작업 전달</a:t>
            </a:r>
          </a:p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Docker에서 병렬 채점</a:t>
            </a:r>
          </a:p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RDS·S3에 결과 기록</a:t>
            </a: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5F75AF61-CAD5-D098-B81D-55C6F0C6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355" y="3112623"/>
            <a:ext cx="210312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프론트엔드가 /wake 호출 후</a:t>
            </a:r>
          </a:p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FastAPI에 코드를 전송하고</a:t>
            </a:r>
          </a:p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PENDING 상태 수신</a:t>
            </a: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50A7E008-B364-02C6-D94B-9E2F2AACA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409" y="3118104"/>
            <a:ext cx="21031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학교 이메일 인증 후</a:t>
            </a:r>
          </a:p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시험방에 입장하고</a:t>
            </a:r>
          </a:p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문제·샘플을 확인</a:t>
            </a:r>
          </a:p>
        </p:txBody>
      </p:sp>
      <p:sp>
        <p:nvSpPr>
          <p:cNvPr id="48" name="Text 3">
            <a:extLst xmlns:a="http://schemas.openxmlformats.org/drawingml/2006/main">
              <a:ext uri="{FF2B5EF4-FFF2-40B4-BE49-F238E27FC236}">
                <a16:creationId xmlns:a16="http://schemas.microsoft.com/office/drawing/2014/main" id="{CE91A923-A922-0414-EB38-B954C033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92240"/>
            <a:ext cx="43891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chemeClr val="tx1">
                    <a:lumMod val="50000"/>
                    <a:lumOff val="50000"/>
                  </a:schemeClr>
                </a:solidFill>
                <a:latin typeface="Pretendard"/>
                <a:ea typeface="Pretendard"/>
                <a:cs typeface="Pretendard"/>
              </a:rPr>
              <a:t>HUFSOLVE | Cloud Computing Final</a:t>
            </a:r>
          </a:p>
        </p:txBody>
      </p:sp>
      <p:sp>
        <p:nvSpPr>
          <p:cNvPr id="5" name="Shape 0">
            <a:extLst xmlns:a="http://schemas.openxmlformats.org/drawingml/2006/main">
              <a:ext uri="{FF2B5EF4-FFF2-40B4-BE49-F238E27FC236}">
                <a16:creationId xmlns:a16="http://schemas.microsoft.com/office/drawing/2014/main" id="{84FEDC36-6112-F62F-A133-65D2EBA6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95000"/>
              <a:lumOff val="5000"/>
            </a:schemeClr>
          </a:solidFill>
          <a:ln xmlns:a="http://schemas.openxmlformats.org/drawingml/2006/main" w="12700">
            <a:solidFill>
              <a:schemeClr val="tx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24588708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그림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c9a04218034c78">
            <a:alphaModFix amt="9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51522" y="-611505"/>
            <a:ext cx="4483989" cy="4483989"/>
          </a:xfrm>
          <a:prstGeom xmlns:a="http://schemas.openxmlformats.org/drawingml/2006/main" prst="rect">
            <a:avLst/>
          </a:prstGeom>
        </p:spPr>
      </p:pic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1E42BFD-59B1-3622-FB0D-E6D6A386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8638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latin typeface="Pretendard Black"/>
                <a:ea typeface="Pretendard Black"/>
                <a:cs typeface="Pretendard Black"/>
              </a:rPr>
              <a:t>핵심 기능을 완성했고 운영 과제가 남았다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F907327-39AA-F718-4349-A3A024BEA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28232"/>
            <a:ext cx="411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 b="1">
                <a:solidFill>
                  <a:schemeClr val="tx1">
                    <a:lumMod val="50000"/>
                    <a:lumOff val="50000"/>
                  </a:schemeClr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4DE5109A-3DAE-33C8-B192-68C020CA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609344"/>
            <a:ext cx="2381514" cy="301752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1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D1D5DB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E5AA534-9295-7B40-9055-8990B178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3169" y="2097325"/>
            <a:ext cx="2103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72A"/>
                </a:solidFill>
                <a:latin typeface="Pretendard SemiBold"/>
                <a:ea typeface="Pretendard SemiBold"/>
                <a:cs typeface="Pretendard SemiBold"/>
              </a:rPr>
              <a:t>완성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40F99CA-314D-3195-7FB9-FF5AD888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409" y="2092889"/>
            <a:ext cx="2103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>
                <a:solidFill>
                  <a:srgbClr val="64748B"/>
                </a:solidFill>
                <a:latin typeface="Pretendard SemiBold"/>
                <a:ea typeface="Pretendard SemiBold"/>
                <a:cs typeface="Pretendard SemiBold"/>
              </a:rPr>
              <a:t>01</a:t>
            </a:r>
          </a:p>
        </p:txBody>
      </p:sp>
      <p:sp>
        <p:nvSpPr>
          <p:cNvPr id="29" name="Shape 5">
            <a:extLst xmlns:a="http://schemas.openxmlformats.org/drawingml/2006/main">
              <a:ext uri="{FF2B5EF4-FFF2-40B4-BE49-F238E27FC236}">
                <a16:creationId xmlns:a16="http://schemas.microsoft.com/office/drawing/2014/main" id="{BE22DD41-FAAE-7B08-24E9-BC75555E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58" y="1609344"/>
            <a:ext cx="2381514" cy="301752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1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D1D5DB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5">
            <a:extLst xmlns:a="http://schemas.openxmlformats.org/drawingml/2006/main">
              <a:ext uri="{FF2B5EF4-FFF2-40B4-BE49-F238E27FC236}">
                <a16:creationId xmlns:a16="http://schemas.microsoft.com/office/drawing/2014/main" id="{1C93D076-78E8-AB6B-D490-0002D0C6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9523" y="1609344"/>
            <a:ext cx="2381514" cy="301752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1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D1D5DB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5">
            <a:extLst xmlns:a="http://schemas.openxmlformats.org/drawingml/2006/main">
              <a:ext uri="{FF2B5EF4-FFF2-40B4-BE49-F238E27FC236}">
                <a16:creationId xmlns:a16="http://schemas.microsoft.com/office/drawing/2014/main" id="{B2B55E92-40A8-C3CE-8A3C-A6C67C67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1808" y="1609344"/>
            <a:ext cx="2381514" cy="301752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1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D1D5DB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7">
            <a:extLst xmlns:a="http://schemas.openxmlformats.org/drawingml/2006/main">
              <a:ext uri="{FF2B5EF4-FFF2-40B4-BE49-F238E27FC236}">
                <a16:creationId xmlns:a16="http://schemas.microsoft.com/office/drawing/2014/main" id="{7917FF4B-2822-75D7-4E13-08827DC2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6115" y="2097325"/>
            <a:ext cx="2103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72A"/>
                </a:solidFill>
                <a:latin typeface="Pretendard SemiBold"/>
                <a:ea typeface="Pretendard SemiBold"/>
                <a:cs typeface="Pretendard SemiBold"/>
              </a:rPr>
              <a:t>클라우드</a:t>
            </a:r>
          </a:p>
        </p:txBody>
      </p:sp>
      <p:sp>
        <p:nvSpPr>
          <p:cNvPr id="36" name="Text 8">
            <a:extLst xmlns:a="http://schemas.openxmlformats.org/drawingml/2006/main">
              <a:ext uri="{FF2B5EF4-FFF2-40B4-BE49-F238E27FC236}">
                <a16:creationId xmlns:a16="http://schemas.microsoft.com/office/drawing/2014/main" id="{B0BC4C87-E8D3-F37A-7545-AF059F93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355" y="2092889"/>
            <a:ext cx="2103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>
                <a:latin typeface="Pretendard SemiBold"/>
                <a:ea typeface="Pretendard SemiBold"/>
                <a:cs typeface="Pretendard SemiBold"/>
              </a:rPr>
              <a:t>02</a:t>
            </a:r>
          </a:p>
        </p:txBody>
      </p:sp>
      <p:sp>
        <p:nvSpPr>
          <p:cNvPr id="37" name="Text 7">
            <a:extLst xmlns:a="http://schemas.openxmlformats.org/drawingml/2006/main">
              <a:ext uri="{FF2B5EF4-FFF2-40B4-BE49-F238E27FC236}">
                <a16:creationId xmlns:a16="http://schemas.microsoft.com/office/drawing/2014/main" id="{BCD553A5-4A3E-007C-0C41-FA1A3684D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92889"/>
            <a:ext cx="2103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72A"/>
                </a:solidFill>
                <a:latin typeface="Pretendard SemiBold"/>
                <a:ea typeface="Pretendard SemiBold"/>
                <a:cs typeface="Pretendard SemiBold"/>
              </a:rPr>
              <a:t>한계</a:t>
            </a:r>
          </a:p>
        </p:txBody>
      </p:sp>
      <p:sp>
        <p:nvSpPr>
          <p:cNvPr id="38" name="Text 8">
            <a:extLst xmlns:a="http://schemas.openxmlformats.org/drawingml/2006/main">
              <a:ext uri="{FF2B5EF4-FFF2-40B4-BE49-F238E27FC236}">
                <a16:creationId xmlns:a16="http://schemas.microsoft.com/office/drawing/2014/main" id="{BC251223-5F74-0DBA-BD3B-1733E0592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4440" y="2088453"/>
            <a:ext cx="2103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>
                <a:latin typeface="Pretendard SemiBold"/>
                <a:ea typeface="Pretendard SemiBold"/>
                <a:cs typeface="Pretendard SemiBold"/>
              </a:rPr>
              <a:t>03</a:t>
            </a:r>
          </a:p>
        </p:txBody>
      </p:sp>
      <p:sp>
        <p:nvSpPr>
          <p:cNvPr id="39" name="Text 7">
            <a:extLst xmlns:a="http://schemas.openxmlformats.org/drawingml/2006/main">
              <a:ext uri="{FF2B5EF4-FFF2-40B4-BE49-F238E27FC236}">
                <a16:creationId xmlns:a16="http://schemas.microsoft.com/office/drawing/2014/main" id="{F3402B3C-65C1-60EA-114A-B45BD8B1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7231" y="2101761"/>
            <a:ext cx="2103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72A"/>
                </a:solidFill>
                <a:latin typeface="Pretendard"/>
                <a:ea typeface="Pretendard"/>
                <a:cs typeface="Pretendard"/>
              </a:rPr>
              <a:t>다음 단계</a:t>
            </a:r>
          </a:p>
        </p:txBody>
      </p:sp>
      <p:sp>
        <p:nvSpPr>
          <p:cNvPr id="40" name="Text 8">
            <a:extLst xmlns:a="http://schemas.openxmlformats.org/drawingml/2006/main">
              <a:ext uri="{FF2B5EF4-FFF2-40B4-BE49-F238E27FC236}">
                <a16:creationId xmlns:a16="http://schemas.microsoft.com/office/drawing/2014/main" id="{EA46A4B1-4916-AF03-021A-8D5AE798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471" y="2097325"/>
            <a:ext cx="2103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>
                <a:latin typeface="Pretendard SemiBold"/>
                <a:ea typeface="Pretendard SemiBold"/>
                <a:cs typeface="Pretendard SemiBold"/>
              </a:rPr>
              <a:t>04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95051150-F093-2332-E12B-7D695BDE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1005" y="3118104"/>
            <a:ext cx="2103120" cy="975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시험 전 warm-up 자동화</a:t>
            </a:r>
          </a:p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언어별 runner 확장</a:t>
            </a:r>
          </a:p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부하 테스트 수치 축적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EBC44DB0-D2FE-8E48-07CF-7AE85D23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621" y="3116244"/>
            <a:ext cx="2103120" cy="13234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cold start 대기</a:t>
            </a:r>
          </a:p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현재 Python 중심 실행</a:t>
            </a:r>
          </a:p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운영 보안·관측 고도화 필요</a:t>
            </a: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5F75AF61-CAD5-D098-B81D-55C6F0C6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355" y="3112623"/>
            <a:ext cx="2103120" cy="8617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SQS 비동기 처리</a:t>
            </a:r>
          </a:p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RDS·S3 저장 분리</a:t>
            </a:r>
          </a:p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Lambda scale-to-zero</a:t>
            </a: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50A7E008-B364-02C6-D94B-9E2F2AACA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409" y="3118104"/>
            <a:ext cx="2103120" cy="975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시험·실행·제출·채점</a:t>
            </a:r>
          </a:p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결과 조회·AI 리포트까지</a:t>
            </a:r>
          </a:p>
          <a:p xmlns:a="http://schemas.openxmlformats.org/drawingml/2006/main">
            <a:r>
              <a:rPr sz="1600">
                <a:latin typeface="Pretendard SemiBold"/>
                <a:ea typeface="Pretendard SemiBold"/>
                <a:cs typeface="Pretendard SemiBold"/>
              </a:rPr>
              <a:t>사용자 흐름 연결</a:t>
            </a:r>
          </a:p>
        </p:txBody>
      </p:sp>
      <p:sp>
        <p:nvSpPr>
          <p:cNvPr id="48" name="Text 3">
            <a:extLst xmlns:a="http://schemas.openxmlformats.org/drawingml/2006/main">
              <a:ext uri="{FF2B5EF4-FFF2-40B4-BE49-F238E27FC236}">
                <a16:creationId xmlns:a16="http://schemas.microsoft.com/office/drawing/2014/main" id="{CE91A923-A922-0414-EB38-B954C033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92240"/>
            <a:ext cx="43891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chemeClr val="tx1">
                    <a:lumMod val="50000"/>
                    <a:lumOff val="50000"/>
                  </a:schemeClr>
                </a:solidFill>
                <a:latin typeface="Pretendard"/>
                <a:ea typeface="Pretendard"/>
                <a:cs typeface="Pretendard"/>
              </a:rPr>
              <a:t>HUFSOLVE | Cloud Computing Final</a:t>
            </a:r>
          </a:p>
        </p:txBody>
      </p:sp>
      <p:sp>
        <p:nvSpPr>
          <p:cNvPr id="5" name="Shape 0">
            <a:extLst xmlns:a="http://schemas.openxmlformats.org/drawingml/2006/main">
              <a:ext uri="{FF2B5EF4-FFF2-40B4-BE49-F238E27FC236}">
                <a16:creationId xmlns:a16="http://schemas.microsoft.com/office/drawing/2014/main" id="{84FEDC36-6112-F62F-A133-65D2EBA6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95000"/>
              <a:lumOff val="5000"/>
            </a:schemeClr>
          </a:solidFill>
          <a:ln xmlns:a="http://schemas.openxmlformats.org/drawingml/2006/main" w="12700">
            <a:solidFill>
              <a:schemeClr val="tx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24588708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그림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91f8678a6345b0">
            <a:alphaModFix amt="9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51522" y="-611505"/>
            <a:ext cx="4483989" cy="4483989"/>
          </a:xfrm>
          <a:prstGeom xmlns:a="http://schemas.openxmlformats.org/drawingml/2006/main" prst="rect">
            <a:avLst/>
          </a:prstGeom>
        </p:spPr>
      </p:pic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B85840D-4C7D-4CAA-BCF3-0C7E0ADB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3927" y="3661083"/>
            <a:ext cx="78638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r>
              <a:rPr sz="4500" b="1">
                <a:latin typeface="Pretendard ExtraLight"/>
                <a:ea typeface="Pretendard ExtraLight"/>
                <a:cs typeface="Pretendard ExtraLight"/>
              </a:rPr>
              <a:t>Q &amp; A</a:t>
            </a:r>
          </a:p>
        </p:txBody>
      </p:sp>
      <p:sp>
        <p:nvSpPr>
          <p:cNvPr id="27" name="Text 3">
            <a:extLst xmlns:a="http://schemas.openxmlformats.org/drawingml/2006/main">
              <a:ext uri="{FF2B5EF4-FFF2-40B4-BE49-F238E27FC236}">
                <a16:creationId xmlns:a16="http://schemas.microsoft.com/office/drawing/2014/main" id="{1924C268-C80E-D489-C386-5C564929E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92240"/>
            <a:ext cx="43891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chemeClr val="tx1">
                    <a:lumMod val="50000"/>
                    <a:lumOff val="50000"/>
                  </a:schemeClr>
                </a:solidFill>
                <a:latin typeface="Pretendard"/>
                <a:ea typeface="Pretendard"/>
                <a:cs typeface="Pretendard"/>
              </a:rPr>
              <a:t>HUFSOLVE | Cloud Computing Final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92E16A3E-BEBF-68AE-32AE-35F65496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201" y="2504372"/>
            <a:ext cx="7863840" cy="923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400">
                <a:latin typeface="Pretendard SemiBold"/>
                <a:ea typeface="Pretendard SemiBold"/>
                <a:cs typeface="Pretendard SemiBold"/>
              </a:rPr>
              <a:t>감사합니다</a:t>
            </a:r>
          </a:p>
        </p:txBody>
      </p:sp>
      <p:sp>
        <p:nvSpPr>
          <p:cNvPr id="5" name="Shape 0">
            <a:extLst xmlns:a="http://schemas.openxmlformats.org/drawingml/2006/main">
              <a:ext uri="{FF2B5EF4-FFF2-40B4-BE49-F238E27FC236}">
                <a16:creationId xmlns:a16="http://schemas.microsoft.com/office/drawing/2014/main" id="{5A90A213-35FC-DE75-3E60-D7DD7C8A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95000"/>
              <a:lumOff val="5000"/>
            </a:schemeClr>
          </a:solidFill>
          <a:ln xmlns:a="http://schemas.openxmlformats.org/drawingml/2006/main" w="12700">
            <a:solidFill>
              <a:schemeClr val="tx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1">
            <a:extLst xmlns:a="http://schemas.openxmlformats.org/drawingml/2006/main">
              <a:ext uri="{FF2B5EF4-FFF2-40B4-BE49-F238E27FC236}">
                <a16:creationId xmlns:a16="http://schemas.microsoft.com/office/drawing/2014/main" id="{7AA207CF-F353-E2A1-EA73-F06E22B4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958" y="4787533"/>
            <a:ext cx="78638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tx1">
                    <a:lumMod val="50000"/>
                    <a:lumOff val="50000"/>
                  </a:schemeClr>
                </a:solidFill>
                <a:latin typeface="Pretendard"/>
                <a:ea typeface="Pretendard"/>
                <a:cs typeface="Pretendard"/>
              </a:rPr>
              <a:t>https://github.com/joobogyeong/HUFSOLVE</a:t>
            </a:r>
          </a:p>
        </p:txBody>
      </p:sp>
    </p:spTree>
    <p:extLst>
      <p:ext uri="{BB962C8B-B14F-4D97-AF65-F5344CB8AC3E}">
        <p14:creationId xmlns:p14="http://schemas.microsoft.com/office/powerpoint/2010/main" val="198308395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anumSquar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anumSquar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2026-06-11T09:42:59.0900000Z</dcterms:created>
  <dcterms:modified xsi:type="dcterms:W3CDTF">2026-06-11T09:42:59.0900000Z</dcterms:modified>
</coreProperties>
</file>